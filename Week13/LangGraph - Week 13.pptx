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(2 min). All of last week, create_agent was quietly a graph. This week we draw our own.</a:t>
            </a:r>
          </a:p>
          <a:p>
            <a:r>
              <a:t>Session 1: the four parts and a router. Session 2: humans in the loop, persistence, and a</a:t>
            </a:r>
          </a:p>
          <a:p>
            <a:r>
              <a:t>code agent that repairs itself. Session 3: teams of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 (3 min). Point at the last column. Nothing here is new as an idea; what is new is that</a:t>
            </a:r>
          </a:p>
          <a:p>
            <a:r>
              <a:t>you decide the shape. Remind them that create_agent's checkpointer and Command(resume=...)</a:t>
            </a:r>
          </a:p>
          <a:p>
            <a:r>
              <a:t>from last week were already LangGraph.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(7 min). Callback to Week 11's first guardrail trap: input guardrails ran only on the</a:t>
            </a:r>
          </a:p>
          <a:p>
            <a:r>
              <a:t>first agent of a turn, so a handoff skipped them. In a graph the check is a node on every</a:t>
            </a:r>
          </a:p>
          <a:p>
            <a:r>
              <a:t>path. Nothing can skip it, because the path doesn't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Open 02_langgraph_basics.ipynb.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SMALLEST GRAPH (8 min). Live output:</a:t>
            </a:r>
          </a:p>
          <a:p>
            <a:r>
              <a:t>{'text': 'MY WATCH IS BURNING HOT', 'word_count': 5, 'shouting': True}</a:t>
            </a:r>
          </a:p>
          <a:p>
            <a:r>
              <a:t>Point out that measure never mentions shouting: nodes return partial updates.</a:t>
            </a:r>
          </a:p>
          <a:p>
            <a:r>
              <a:t>compile() validates the blueprint and returns a Runnable (invoke / stream / batch).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REDUCERS (8 min). The most common LangGraph bug. Without a reducer, b's update replaced</a:t>
            </a:r>
          </a:p>
          <a:p>
            <a:r>
              <a:t>everything a wrote. add_messages' replace-by-id behaviour is what makes time travel work in</a:t>
            </a:r>
          </a:p>
          <a:p>
            <a:r>
              <a:t>Part 5, so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LOOPS (12 min). A conditional edge calls a routing function that returns the next node's</a:t>
            </a:r>
          </a:p>
          <a:p>
            <a:r>
              <a:t>name. Point an edge backwards and you have a loop. The live run needed two attempts.</a:t>
            </a:r>
          </a:p>
          <a:p>
            <a:r>
              <a:t>Ask the room: what happens if you forget the attempts check and the model never gets under</a:t>
            </a:r>
          </a:p>
          <a:p>
            <a:r>
              <a:t>12 words? (recursion_limit stops it at 25 steps.)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BY HAND (15 min). Put this picture next to Week 10's while loop: same thing.</a:t>
            </a:r>
          </a:p>
          <a:p>
            <a:r>
              <a:t>tools_condition is a three-line routing function: tool calls -&gt; "tools", else END.</a:t>
            </a:r>
          </a:p>
          <a:p>
            <a:r>
              <a:t>ToolNode ran both get_price calls from one model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AS A NODE (8 min). This is the slide that answers "do I have to throw away create_agent?"</a:t>
            </a:r>
          </a:p>
          <a:p>
            <a:r>
              <a:t>— no. Two directions:</a:t>
            </a:r>
          </a:p>
          <a:p/>
          <a:p>
            <a:r>
              <a:t>1. create_agent RETURNS a LangGraph graph, so it can draw itself. Put its picture next to the</a:t>
            </a:r>
          </a:p>
          <a:p>
            <a:r>
              <a:t>   one the room just built: identical, except LangChain names the node "model".</a:t>
            </a:r>
          </a:p>
          <a:p>
            <a:r>
              <a:t>2. A whole agent can be ONE node in a graph you own. In the live cell the agent worked out</a:t>
            </a:r>
          </a:p>
          <a:p>
            <a:r>
              <a:t>   2 x 1799 = 3598 on its own (open-ended reasoning — what agents are for), and the graph still</a:t>
            </a:r>
          </a:p>
          <a:p>
            <a:r>
              <a:t>   guaranteed check_length ran afterwards.</a:t>
            </a:r>
          </a:p>
          <a:p/>
          <a:p>
            <a:r>
              <a:t>This is the production pattern: a graph on the outside, an agent inside a node. Notebook Part 4.1.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TRAVEL (15 min). compile(checkpointer=InMemorySaver()) and a thread_id: that's what gave</a:t>
            </a:r>
          </a:p>
          <a:p>
            <a:r>
              <a:t>memory last week. It also gives history. get_state_history lists every checkpoint newest</a:t>
            </a:r>
          </a:p>
          <a:p>
            <a:r>
              <a:t>first. update_state on an old checkpoint creates a fork; invoke(None, fork) continues from it.</a:t>
            </a:r>
          </a:p>
          <a:p/>
          <a:p>
            <a:r>
              <a:t>Use cases: debugging (rewind to the step that went wrong, change one thing, rerun what</a:t>
            </a:r>
          </a:p>
          <a:p>
            <a:r>
              <a:t>follows), "regenerate" and "undo" buttons, and what-if testing of routing policy (project).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STREAMING (5 min). Quick. updates is what you'll use most for progress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Notebook Part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(15 min). The safety check is code OR model: a regex on words like burning/smoke,</a:t>
            </a:r>
          </a:p>
          <a:p>
            <a:r>
              <a:t>plus the classifier's flag. Either can fire; neither can be talked out of it.</a:t>
            </a:r>
          </a:p>
          <a:p>
            <a:r>
              <a:t>Urgency is forced to 5 for safety tickets — policy, not a model's opinion.</a:t>
            </a:r>
          </a:p>
          <a:p>
            <a:r>
              <a:t>The review loop is bounded by MAX_DRAFTS = 2, then it escalates to a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(10 min). Real run. Show the path column in the notebook too: every ticket's journey</a:t>
            </a:r>
          </a:p>
          <a:p>
            <a:r>
              <a:t>through the graph, which you can assert on in a unit test. That's the practical payoff of</a:t>
            </a:r>
          </a:p>
          <a:p>
            <a:r>
              <a:t>drawing the graph: the policy becomes testable.</a:t>
            </a:r>
          </a:p>
          <a:p/>
          <a:p>
            <a:r>
              <a:t>Be honest about the review loop: in our run every draft was approved the first time.</a:t>
            </a:r>
          </a:p>
          <a:p>
            <a:r>
              <a:t>Results vary run to run. Exercise 3 (reject anything over 60 words) makes the loop fire.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WHAT-IF (8 min). Same ticket, rewound to the checkpoint after classify, one fact changed, and</a:t>
            </a:r>
          </a:p>
          <a:p>
            <a:r>
              <a:t>the graph re-decided from there. The urgency model saw "premium, third time, NOW" and scored 4,</a:t>
            </a:r>
          </a:p>
          <a:p>
            <a:r>
              <a:t>which crosses the escalation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(3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(2 min). Two halves today, one project that uses both. Say up front that the appendix</a:t>
            </a:r>
          </a:p>
          <a:p>
            <a:r>
              <a:t>(the self-repairing code agent) is take-home — it runs standalone and nothing later depends</a:t>
            </a:r>
          </a:p>
          <a:p>
            <a:r>
              <a:t>on it.</a:t>
            </a:r>
          </a:p>
          <a:p/>
          <a:p>
            <a:r>
              <a:t>Budget: ~120 min of slides. If you are running long, the slides to drop are "workflow vs</a:t>
            </a:r>
          </a:p>
          <a:p>
            <a:r>
              <a:t>supervisor" and "parallel writers repeat each other" — both are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(2 min). Flag the appendix as optional so nobody feels short-changed when we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(3 min). Sessions 1-2 gave them the graph; today is what makes it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Open 03_hitl_and_agent_teams.ipynb.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INTERRUPT (10 min). Live output: paused? True, payload {question, order, amount_inr: 4999},</a:t>
            </a:r>
          </a:p>
          <a:p>
            <a:r>
              <a:t>waiting at ('manager_approval',). Then resume: ['proposed INR 4999', 'manager said: yes', 'PAID'].</a:t>
            </a:r>
          </a:p>
          <a:p>
            <a:r>
              <a:t>A checkpointer is required: the paused graph has to live somewhere.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RERUN (7 min). The most common interrupt bug. The node doesn't resume mid-function; Python</a:t>
            </a:r>
          </a:p>
          <a:p>
            <a:r>
              <a:t>can't do that across processes. LangGraph replays the node, and interrupt() returns the stored</a:t>
            </a:r>
          </a:p>
          <a:p>
            <a:r>
              <a:t>answer the second time. Paying, emailing, writing to a DB: after the interrupt, or in a node</a:t>
            </a:r>
          </a:p>
          <a:p>
            <a:r>
              <a:t>of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 (10 min). The route after agent sends only issue_refund calls to the gate; lookup_order</a:t>
            </a:r>
          </a:p>
          <a:p>
            <a:r>
              <a:t>runs freely. parallel_tool_calls=False so there's one decision per pause.</a:t>
            </a:r>
          </a:p>
          <a:p/>
          <a:p>
            <a:r>
              <a:t>Rehearsal lesson: the first prompt said "a human approves every refund", and in case C the</a:t>
            </a:r>
          </a:p>
          <a:p>
            <a:r>
              <a:t>model told the customer the refund was "pending approval" without calling the tool at all,</a:t>
            </a:r>
          </a:p>
          <a:p>
            <a:r>
              <a:t>so there was nothing to reject. The fix was in the prompt: "don't judge eligibility yourself;</a:t>
            </a:r>
          </a:p>
          <a:p>
            <a:r>
              <a:t>a reviewer checks every issue_refund call, and you'll see their decision as the tool's result."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COMMAND (6 min). This is what HumanInTheLoopMiddleware did inside, last week. Now that you</a:t>
            </a:r>
          </a:p>
          <a:p>
            <a:r>
              <a:t>own it you can change it: two approvers above INR 10,000, auto-approve under INR 100, route</a:t>
            </a:r>
          </a:p>
          <a:p>
            <a:r>
              <a:t>rejections to a different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PERSISTENCE (9 min). The approvals-inbox cell lists every thread parked at a pause, straight</a:t>
            </a:r>
          </a:p>
          <a:p>
            <a:r>
              <a:t>from the checkpointer: the backend of an approvals page (exercise 5). If there's time, really</a:t>
            </a:r>
          </a:p>
          <a:p>
            <a:r>
              <a:t>restart the kernel between the two cells.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Notebook Part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 (11 min). The number of copies is decided at run time by the data — unlike Session 1,</a:t>
            </a:r>
          </a:p>
          <a:p>
            <a:r>
              <a:t>where every branch was drawn in advance. Sync invoke runs the copies on a thread pool.</a:t>
            </a:r>
          </a:p>
          <a:p>
            <a:r>
              <a:t>Watch rate limits when N gets large (exercise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SUBGRAPH (9 min). Run the standalone test cell: "What is smart charging?" passed on the</a:t>
            </a:r>
          </a:p>
          <a:p>
            <a:r>
              <a:t>first draft with nothing flagged. The writer is told to use only its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CHECKER (5 min). Real output. In rehearsal, one run of the same prompt described the Orbit</a:t>
            </a:r>
          </a:p>
          <a:p>
            <a:r>
              <a:t>as if it were a scooter ("30% more ride time… an extra 15 miles"). With no sources, "specific"</a:t>
            </a:r>
          </a:p>
          <a:p>
            <a:r>
              <a:t>means "invented". The constrained writer passed every time we tried it; the checker is</a:t>
            </a:r>
          </a:p>
          <a:p>
            <a:r>
              <a:t>insurance for the day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SUPERVISOR (12 min). Nobody drew the order researcher → analyst → writer; the supervisor chose</a:t>
            </a:r>
          </a:p>
          <a:p>
            <a:r>
              <a:t>it from the request. Each worker is a create_agent from last week with only the tools for its</a:t>
            </a:r>
          </a:p>
          <a:p>
            <a:r>
              <a:t>job. Try the one-worker question from the notebook ("which week had the most orbit-heat</a:t>
            </a:r>
          </a:p>
          <a:p>
            <a:r>
              <a:t>tickets?") and watch the path shrink.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(5 min) [optional if short on time]. Map Week 11's travel concierge desks onto the right-hand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Notebook Part 7. Say why this is the right capstone: it is the only graph in the</a:t>
            </a:r>
          </a:p>
          <a:p>
            <a:r>
              <a:t>course that uses BOTH halves of today — two interrupts and a Send fan-out, with a subgraph</a:t>
            </a:r>
          </a:p>
          <a:p>
            <a:r>
              <a:t>inside each parallel branch.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BLOG GRAPH (8 min). The steps are known, so it's a workflow — Session 1's rule. The parts</a:t>
            </a:r>
          </a:p>
          <a:p>
            <a:r>
              <a:t>that vary use today's tools: Send for however many sections the outline has, and the section</a:t>
            </a:r>
          </a:p>
          <a:p>
            <a:r>
              <a:t>subgraph for each one. Humans sit at the two points where judgement is cheapest: the outline</a:t>
            </a:r>
          </a:p>
          <a:p>
            <a:r>
              <a:t>and the final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(10 min). Walk the log with the notebook open. The edit at the outline stage is the</a:t>
            </a:r>
          </a:p>
          <a:p>
            <a:r>
              <a:t>cheapest change in the whole pipeline: one line of the outline instead of rewriting a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DROPPED (6 min). Real output from the saved run, found while checking the published file.</a:t>
            </a:r>
          </a:p>
          <a:p>
            <a:r>
              <a:t>The human's one edit at the outline stage — the cheapest, most valuable change in the</a:t>
            </a:r>
          </a:p>
          <a:p>
            <a:r>
              <a:t>pipeline — was silently undone two steps later by a model following a word limit.</a:t>
            </a:r>
          </a:p>
          <a:p/>
          <a:p>
            <a:r>
              <a:t>This connects to Session 2's "tests pass, code is bad": an agent optimises for the checks it</a:t>
            </a:r>
          </a:p>
          <a:p>
            <a:r>
              <a:t>has. If nothing checks that human decisions survive, they may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(5 min). Don't teach it — point at it. Say what it does, show the three-run repair,</a:t>
            </a:r>
          </a:p>
          <a:p>
            <a:r>
              <a:t>and tell them the sting: tests passed on code no reviewer would merge. The full build is in</a:t>
            </a:r>
          </a:p>
          <a:p>
            <a:r>
              <a:t>the notebook appendix and runs standalone.</a:t>
            </a:r>
          </a:p>
          <a:p/>
          <a:p>
            <a:r>
              <a:t>If you have 40 spare minutes in a later session, this is the best thing to come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(4 min). The band is the sentence to leave them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68580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2220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0625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030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74352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0" y="68580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4244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2649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6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2220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0625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030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74352" y="106984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244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649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1054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2220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0625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0304" y="145389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74352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4244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649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10544" y="145389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816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2220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906256" y="183794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9030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74352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4244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26496" y="183794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21054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13  ·  SESSION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F2F4FF"/>
                </a:solidFill>
                <a:latin typeface="Aptos"/>
              </a:rPr>
              <a:t>LangGraph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9AA3C4"/>
                </a:solidFill>
                <a:latin typeface="Aptos"/>
              </a:rPr>
              <a:t>Drawing the loop yourself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590288"/>
            <a:ext cx="146304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901184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State, nodes, edges, checkpoints — and time travel.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Project: a support-ticket router where the order of steps is policy.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THE ARC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same four ideas, four weeks running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157433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5039" y="1618488"/>
            <a:ext cx="201821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10 · BY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4418" y="1618488"/>
            <a:ext cx="201821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11 · AGENTS SDK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73797" y="1618488"/>
            <a:ext cx="201821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12 · LANGCHAIN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3176" y="1618488"/>
            <a:ext cx="224014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WEEK 13 · LANGGRAPH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9384"/>
            <a:ext cx="10874959" cy="51206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The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5039" y="2057400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while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4418" y="2057400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Runner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3797" y="2057400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create_agent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3176" y="2057400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you draw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2569464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Deciding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5039" y="2569464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if statements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4418" y="2569464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handoffs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3797" y="2569464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middleware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3176" y="2569464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conditional edges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2953512"/>
            <a:ext cx="10874959" cy="51206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3081528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Memory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5039" y="3081528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messages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4418" y="3081528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3797" y="3081528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checkpointer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3176" y="3081528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state + checkpointer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593592"/>
            <a:ext cx="137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Pausing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5039" y="3593592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input()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4418" y="3593592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RunState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73797" y="3593592"/>
            <a:ext cx="18170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Command(resume=…)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3176" y="3593592"/>
            <a:ext cx="203898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interrupt + time travel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251960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416552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LangGraph runs underneath create_agent. This week you draw your own graph.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Two and a half hours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99616"/>
            <a:ext cx="38100" cy="5669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733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6550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Why draw a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673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10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16733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When the order of steps is policy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396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139696"/>
            <a:ext cx="38100" cy="5669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134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34D399"/>
                </a:solidFill>
                <a:latin typeface="Aptos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22951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State, nodes, 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20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3134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smallest graph, and reducers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7977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79776"/>
            <a:ext cx="38100" cy="5669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2953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22D3EE"/>
                </a:solidFill>
                <a:latin typeface="Aptos"/>
              </a:rPr>
              <a:t>0:30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293522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Branches and loops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9535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22D3EE"/>
                </a:solidFill>
                <a:latin typeface="Consolas"/>
              </a:rPr>
              <a:t>20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95351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Conditional edges, and a budget on every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1985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419856"/>
            <a:ext cx="38100" cy="5669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35935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A78BFA"/>
                </a:solidFill>
                <a:latin typeface="Aptos"/>
              </a:rPr>
              <a:t>0:50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57530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create_agent, opened 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0368" y="3593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A78BFA"/>
                </a:solidFill>
                <a:latin typeface="Consolas"/>
              </a:rPr>
              <a:t>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359359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agent → tools → agent, by hand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05993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059936"/>
            <a:ext cx="3810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2336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1:10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42153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Checkpoints and time travel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59E0B"/>
                </a:solidFill>
                <a:latin typeface="Consolas"/>
              </a:rPr>
              <a:t>20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23367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History, rewind, branch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7000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4700016"/>
            <a:ext cx="38100" cy="566928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" y="48737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666E94"/>
                </a:solidFill>
                <a:latin typeface="Aptos"/>
              </a:rPr>
              <a:t>1:30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5648" y="48554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Break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0368" y="48737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66E94"/>
                </a:solidFill>
                <a:latin typeface="Consolas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8" y="48737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3400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5340096"/>
            <a:ext cx="38100" cy="5669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6112" y="55138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B7185"/>
                </a:solidFill>
                <a:latin typeface="Aptos"/>
              </a:rPr>
              <a:t>1:45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55648" y="54955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Project: ticket router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0368" y="55138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B7185"/>
                </a:solidFill>
                <a:latin typeface="Consolas"/>
              </a:rPr>
              <a:t>45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55138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Safety check, review loop, policy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WHY DRAW A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Who decides what happens next?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5208879" cy="2834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75104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 i="0">
                <a:solidFill>
                  <a:srgbClr val="A78BFA"/>
                </a:solidFill>
                <a:latin typeface="Aptos"/>
              </a:rPr>
              <a:t>The model decides  ·  create_agent</a:t>
            </a:r>
          </a:p>
        </p:txBody>
      </p:sp>
      <p:sp>
        <p:nvSpPr>
          <p:cNvPr id="10" name="Oval 9"/>
          <p:cNvSpPr/>
          <p:nvPr/>
        </p:nvSpPr>
        <p:spPr>
          <a:xfrm>
            <a:off x="969264" y="2624328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2514600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next step depends on what it just found</a:t>
            </a:r>
          </a:p>
        </p:txBody>
      </p:sp>
      <p:sp>
        <p:nvSpPr>
          <p:cNvPr id="12" name="Oval 11"/>
          <p:cNvSpPr/>
          <p:nvPr/>
        </p:nvSpPr>
        <p:spPr>
          <a:xfrm>
            <a:off x="969264" y="3099816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2990088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open-ended questions</a:t>
            </a:r>
          </a:p>
        </p:txBody>
      </p:sp>
      <p:sp>
        <p:nvSpPr>
          <p:cNvPr id="14" name="Oval 13"/>
          <p:cNvSpPr/>
          <p:nvPr/>
        </p:nvSpPr>
        <p:spPr>
          <a:xfrm>
            <a:off x="969264" y="3575304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1872" y="3465576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you accept variable paths and cost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" y="4050792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61872" y="3941064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e.g. last week's data analyst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1755648"/>
            <a:ext cx="5208879" cy="2834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1975104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1" i="0">
                <a:solidFill>
                  <a:srgbClr val="34D399"/>
                </a:solidFill>
                <a:latin typeface="Aptos"/>
              </a:rPr>
              <a:t>You decide  ·  a graph you draw</a:t>
            </a:r>
          </a:p>
        </p:txBody>
      </p:sp>
      <p:sp>
        <p:nvSpPr>
          <p:cNvPr id="20" name="Oval 19"/>
          <p:cNvSpPr/>
          <p:nvPr/>
        </p:nvSpPr>
        <p:spPr>
          <a:xfrm>
            <a:off x="6635343" y="262432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7951" y="2514600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some steps must ALWAYS happen, in order</a:t>
            </a:r>
          </a:p>
        </p:txBody>
      </p:sp>
      <p:sp>
        <p:nvSpPr>
          <p:cNvPr id="22" name="Oval 21"/>
          <p:cNvSpPr/>
          <p:nvPr/>
        </p:nvSpPr>
        <p:spPr>
          <a:xfrm>
            <a:off x="6635343" y="309981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27951" y="2990088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safety check, a review, an approval</a:t>
            </a:r>
          </a:p>
        </p:txBody>
      </p:sp>
      <p:sp>
        <p:nvSpPr>
          <p:cNvPr id="24" name="Oval 23"/>
          <p:cNvSpPr/>
          <p:nvPr/>
        </p:nvSpPr>
        <p:spPr>
          <a:xfrm>
            <a:off x="6635343" y="357530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27951" y="3465576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you want to test the path, not just the answer</a:t>
            </a:r>
          </a:p>
        </p:txBody>
      </p:sp>
      <p:sp>
        <p:nvSpPr>
          <p:cNvPr id="26" name="Oval 25"/>
          <p:cNvSpPr/>
          <p:nvPr/>
        </p:nvSpPr>
        <p:spPr>
          <a:xfrm>
            <a:off x="6635343" y="4050792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7951" y="3941064"/>
            <a:ext cx="436763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e.g. today's ticket router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86460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02920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Most real systems mix both: a fixed graph, with a model making the safe choices.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34D399"/>
                </a:solidFill>
                <a:latin typeface="Apto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State, nodes, edges, checkpoints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Notebook Parts 1–6. No new ideas — just the loop, drawn.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THE PARTS · 80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PART 1 · THE SMALLEST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Build, compile, invoke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6576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class TicketState(TypedDict):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text: str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word_count: int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shouting: bool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measure(state):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{"word_count": len(state["text"].split())}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 = StateGraph(TicketState)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b.add_node("measure", measure)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b.add_node("detect_shouting", detect_shouting)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b.add_edge(START, "measure")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b.add_edge("measure", "detect_shouting")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b.add_edge("detect_shouting", END)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graph = b.compile()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21727" y="1709928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START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28886" y="2130552"/>
            <a:ext cx="0" cy="23774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21727" y="2368296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measure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8886" y="2788920"/>
            <a:ext cx="0" cy="23774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21727" y="3026664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detect_shouting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28886" y="3447288"/>
            <a:ext cx="0" cy="23774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21727" y="3685032"/>
            <a:ext cx="3014319" cy="420624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7" y="445312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055" y="4343400"/>
            <a:ext cx="49162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State: a typed dict that flows through.</a:t>
            </a:r>
          </a:p>
        </p:txBody>
      </p:sp>
      <p:sp>
        <p:nvSpPr>
          <p:cNvPr id="19" name="Oval 18"/>
          <p:cNvSpPr/>
          <p:nvPr/>
        </p:nvSpPr>
        <p:spPr>
          <a:xfrm>
            <a:off x="6324447" y="481888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7055" y="4709160"/>
            <a:ext cx="49162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node returns only the keys it changes.</a:t>
            </a:r>
          </a:p>
        </p:txBody>
      </p:sp>
      <p:sp>
        <p:nvSpPr>
          <p:cNvPr id="21" name="Oval 20"/>
          <p:cNvSpPr/>
          <p:nvPr/>
        </p:nvSpPr>
        <p:spPr>
          <a:xfrm>
            <a:off x="6324447" y="518464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7055" y="5074920"/>
            <a:ext cx="49162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No LLM here. A graph is control 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PART 2 · REDUCERS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list that loses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14630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class NoReducer(TypedDict):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log: list[str]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class WithReducer(TypedDict):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log: Annotated[list[str], operator.add]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161848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START WITH ["start"], THEN a, THEN 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20240"/>
            <a:ext cx="5208879" cy="1161288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2191" y="2103120"/>
            <a:ext cx="4751679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NoReducer    -&gt; ['b ran']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WithReducer  -&gt; ['start', 'a ran', 'b ran']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01568"/>
            <a:ext cx="215017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REDUCER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0878" y="3401568"/>
            <a:ext cx="391368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AN UPDATE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5727" y="3401568"/>
            <a:ext cx="420759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USE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1246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840480"/>
            <a:ext cx="19490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(none)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0878" y="3840480"/>
            <a:ext cx="3712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overwrites the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5727" y="3840480"/>
            <a:ext cx="40064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single value: draft, urgency,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297680"/>
            <a:ext cx="19490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operator.add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0878" y="4297680"/>
            <a:ext cx="3712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appends to the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5727" y="4297680"/>
            <a:ext cx="40064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log, a path, search results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62686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4754880"/>
            <a:ext cx="19490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add_messages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0878" y="4754880"/>
            <a:ext cx="3712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appends, or replaces a message with the same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5727" y="4754880"/>
            <a:ext cx="40064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chat history (MessagesState)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22122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385816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A list that silently loses items is almost always a missing reducer.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PART 3 · CONDITIONAL 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Every loop needs two exits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26517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good_enough(state) -&gt; Literal["write", "__end__"]: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len(state["draft"].split()) &lt;= 12: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END        # the goal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state["attempts"] &gt;= 3: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END        # the budget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"write"        # loop back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b.add_conditional_edges("write", good_enough)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98767" y="1847088"/>
            <a:ext cx="1828800" cy="54864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write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(LLM)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41967" y="1847088"/>
            <a:ext cx="164592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good_enough?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41967" y="3081528"/>
            <a:ext cx="1645920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27567" y="2121408"/>
            <a:ext cx="91440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64927" y="2395728"/>
            <a:ext cx="0" cy="68580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56367" y="262432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short enough
or 3 tries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16287" y="2395728"/>
            <a:ext cx="0" cy="36576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513167" y="2761488"/>
            <a:ext cx="2103120" cy="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513167" y="2395728"/>
            <a:ext cx="0" cy="365760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98767" y="2807208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too long: try again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3721608"/>
            <a:ext cx="5208879" cy="5486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904488"/>
            <a:ext cx="47516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attempt 1: 14 words   attempt 2: 9 words  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9028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5488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ptos"/>
              </a:rPr>
              <a:t>Week 10's max_steps as an edge. Safety net: recursion_limit=25 → GraphRecursionError.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4 · OPENED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create_agent is two nodes and a back-edge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agent(state: MessagesState):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{"messages":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[model_with_tools.invoke(state["messages"])]}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 = StateGraph(MessagesState)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b.add_node("agent", agent)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b.add_node("tools", ToolNode(tools))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b.add_edge(START, "agent")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b.add_conditional_edges("agent", tools_condition)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b.add_edge("tools", "agent")      # the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98767" y="193852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agent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(model)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16287" y="193852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tools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(ToolNode)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98767" y="3401568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6127" y="2121408"/>
            <a:ext cx="1280160" cy="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336127" y="182880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tool calls?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336127" y="2395728"/>
            <a:ext cx="12801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36127" y="244144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results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67447" y="2578608"/>
            <a:ext cx="0" cy="82296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58887" y="2852928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no tool calls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904488"/>
            <a:ext cx="5208879" cy="731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4087368"/>
            <a:ext cx="475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ai: ['get_price', 'get_price']   # both at once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tool: Orbit: INR 3999   tool: Echo Bar: INR 1799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6460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02920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Now you can change it: a checker after tools, a reviewer before END, a human before tools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4.1 · THE TWO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An agent can be one node in your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1 · CREATE_AGENT IS ALREADY A GRAPH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92808"/>
            <a:ext cx="5208879" cy="15087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75688"/>
            <a:ext cx="47516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prebuilt = create_agent(llm, tools=tools)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type(prebuilt)   # CompiledStateGraph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prebuilt.get_graph().draw_mermaid()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#  __start__ --&gt; model ; model -.-&gt; tools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#  tools -.-&gt; model   ; model -.-&gt; __end__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9300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1">
                <a:solidFill>
                  <a:srgbClr val="666E94"/>
                </a:solidFill>
                <a:latin typeface="Aptos"/>
              </a:rPr>
              <a:t>the same shape you drew by hand — only the node name differs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2 · AND IT CAN BE A NODE IN YOURS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5887" y="1984248"/>
            <a:ext cx="2103120" cy="73152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ask_agent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(create_agent)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6207" y="1984248"/>
            <a:ext cx="1737360" cy="7315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check_length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(code)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0767" y="2121408"/>
            <a:ext cx="822960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19007" y="2350008"/>
            <a:ext cx="45720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713567" y="2350008"/>
            <a:ext cx="45720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24447" y="2990088"/>
            <a:ext cx="5208879" cy="8229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2191" y="3172968"/>
            <a:ext cx="4751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LIVE: "2 x 1799 = 3598 … total INR 7597"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words: 50   ← check_length ran anyway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31596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48056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Graph outside for what must happen; agent inside for what gets chosen.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5 ·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Every step is saved. Any step can be rewound.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Pulse X1?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176272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tool call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94176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INR 2499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56048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12080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answer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73952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729984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And the Orbit?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91856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47888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tool call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09760" y="2084832"/>
            <a:ext cx="256032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65792" y="180136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answer: Orbit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9984" y="303580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Echo Bar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instead?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65792" y="3035808"/>
            <a:ext cx="1261872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answer: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Echo Bar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60920" y="2368296"/>
            <a:ext cx="0" cy="667512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991856" y="3319272"/>
            <a:ext cx="1773936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317296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10 checkpoints for two questions. Pick one, change it, run on: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904488"/>
            <a:ext cx="10874959" cy="9144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087368"/>
            <a:ext cx="104177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fork = graph.update_state(snap.config, {"messages": [HumanMessage("...Echo Bar...", id=old.id)]})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graph.invoke(None, fork)     # None = continue from here.  Same id = replace, not append.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04748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21208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Original: "The Orbit is INR 3999."  Branch: "The Echo Bar is INR 1799."  Both stay in the history.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6 · STREAMING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Three ways to watch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16555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STREAM_MODE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236" y="1618488"/>
            <a:ext cx="29817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YOU 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9150" y="1618488"/>
            <a:ext cx="32469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LIVE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7307" y="1618488"/>
            <a:ext cx="21860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USE IT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938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57400"/>
            <a:ext cx="1454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updates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6236" y="2057400"/>
            <a:ext cx="2780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what each node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9150" y="2057400"/>
            <a:ext cx="304582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['agent'], ['tools'], ['agent']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47307" y="2057400"/>
            <a:ext cx="19848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progress UIs,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606040"/>
            <a:ext cx="1454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values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6236" y="2606040"/>
            <a:ext cx="2780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whole state after each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9150" y="2606040"/>
            <a:ext cx="304582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1, 2, 3, 4 messages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7307" y="2606040"/>
            <a:ext cx="19848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debugging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02666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154680"/>
            <a:ext cx="1454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messages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6236" y="3154680"/>
            <a:ext cx="27805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LLM tokens as they arrive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150" y="3154680"/>
            <a:ext cx="304582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· price · of · the · Orbit 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7307" y="3154680"/>
            <a:ext cx="19848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chat typing effect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849624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014216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Filter "messages" on metadata["langgraph_node"] to stream only the user-facing node.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B7185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The Nimbus ticket 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Every ticket gets a safety check. No reply goes out without a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PROJECT · 45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7 · THE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Read the picture as a policy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85292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classify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(LLM + regex)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285292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assess_urgency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75564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escalate_safety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85292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escalate_human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search_kb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draft_reply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review_reply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(LLM judge)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02368" y="3950208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send_reply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21408" y="313639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950208" y="2039112"/>
            <a:ext cx="365760" cy="905256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3136392"/>
            <a:ext cx="365760" cy="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50208" y="3328416"/>
            <a:ext cx="365760" cy="905256"/>
          </a:xfrm>
          <a:prstGeom prst="line">
            <a:avLst/>
          </a:prstGeom>
          <a:ln w="190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79008" y="423367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07808" y="4233672"/>
            <a:ext cx="36576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36608" y="4233672"/>
            <a:ext cx="365760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705088" y="4517136"/>
            <a:ext cx="0" cy="301752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876288" y="4818888"/>
            <a:ext cx="1828800" cy="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876288" y="4517136"/>
            <a:ext cx="0" cy="301752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44768" y="486460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rejected: redraft (max 2)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779008" y="3419856"/>
            <a:ext cx="2926080" cy="530352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19088" y="33558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2 rejections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299923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F59E0B"/>
                </a:solidFill>
                <a:latin typeface="Aptos"/>
              </a:rPr>
              <a:t>← urgency ≥ 4, or an account issue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16168" y="190195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FB7185"/>
                </a:solidFill>
                <a:latin typeface="Aptos"/>
              </a:rPr>
              <a:t>← regex OR model flagged safety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675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5321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Three places a ticket can end. No path reaches send_reply without review_reply.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7 · LIVE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Eight tickets, three kinds of 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527048"/>
            <a:ext cx="34238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TICKET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4522" y="1527048"/>
            <a:ext cx="229101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INTENT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6700" y="1527048"/>
            <a:ext cx="93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URGENCY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9508" y="1527048"/>
            <a:ext cx="342381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OUTCOME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3794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9659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T-3001  Orbit hot, burning smell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4522" y="19659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700" y="19659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9508" y="19659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product 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4231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T-3003  charged twice (premium)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4522" y="24231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billing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6700" y="24231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9508" y="24231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a human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75234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8803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T-3005  Echo Bar in the pool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4522" y="28803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technical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700" y="28803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9508" y="28803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a human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33375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T-3007  can't log 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4522" y="33375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account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700" y="33375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508" y="33375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ESCALATED to a human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666744"/>
            <a:ext cx="10874959" cy="4572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7947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T-3002 · 3004 · 3006 · 3008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4522" y="3794760"/>
            <a:ext cx="20898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tech · ship · tech · returns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700" y="3794760"/>
            <a:ext cx="730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2–3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9508" y="3794760"/>
            <a:ext cx="32226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REPLY SENT, first draft approved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261104"/>
            <a:ext cx="10874959" cy="86868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4443984"/>
            <a:ext cx="1041775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for r in results:   # policy tests: assert on the PATH, not just the answer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SAFETY_WORDS.search(text): assert r["outcome"].startswith("ESCALATED to product safety")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r["outcome"] == "REPLY SENT": assert "review_reply" in r["path"]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31266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477256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policy tests passed. The redraft loop never fired today — exercise 3 makes the reviewer stricter.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7 · TIME TRAVEL ON A REAL TICKET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"What if they were premium?"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23774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after_classify = next(s for s in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router.get_state_history(cfg)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if s.next == ("assess_urgency",))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fork = router.update_state(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after_classify.config,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{"customer_tier": "premium",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 "text": text + " third time... NOW."})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router.invoke(None, fork)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18488"/>
            <a:ext cx="5208879" cy="1051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801368"/>
            <a:ext cx="46602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ORIGINAL  ·  T-3002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093976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F2F4FF"/>
                </a:solidFill>
                <a:latin typeface="Aptos"/>
              </a:rPr>
              <a:t>urgency 3  →  REPLY SENT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2852928"/>
            <a:ext cx="5208879" cy="10515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3035808"/>
            <a:ext cx="46602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REWOUND, ONE FACT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328416"/>
            <a:ext cx="46602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1" i="0">
                <a:solidFill>
                  <a:srgbClr val="F2F4FF"/>
                </a:solidFill>
                <a:latin typeface="Aptos"/>
              </a:rPr>
              <a:t>urgency 4  →  ESCALATED to a human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31596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48056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Test a routing policy, or debug a bad decision in production, without rerunning everything.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What you take forward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1847088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1737360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State is a typed dict. Nodes return partial updates. Reducers decide how they merge.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2414016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304288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A conditional edge is a router. A back-edge is a loop. Every loop needs a goal and a budget.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2980944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871216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create_agent is agent → tools → agent. You can build it now, and change it.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547872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438144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Checkpoints give you memory, history and time travel.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4114800"/>
            <a:ext cx="63500" cy="6350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005072"/>
            <a:ext cx="1021659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0" i="0">
                <a:solidFill>
                  <a:srgbClr val="9AA3C4"/>
                </a:solidFill>
                <a:latin typeface="Aptos"/>
              </a:rPr>
              <a:t>Draw the graph when the order is policy. Let the model choose only where a choice is safe.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18888"/>
            <a:ext cx="10874959" cy="64008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983480"/>
            <a:ext cx="103263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Next session: a graph that writes code, tests it, fixes its own bugs, and asks you first.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286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200" b="1" i="0">
                <a:solidFill>
                  <a:srgbClr val="F2F4FF"/>
                </a:solidFill>
                <a:latin typeface="Aptos"/>
              </a:rPr>
              <a:t>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474720"/>
            <a:ext cx="146304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785615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02_langgraph_basics.ipynb — rerun it and try the five exercises.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Exercise 3 is the one to do first: make the review loop fire.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“When is create_agent enough?”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4794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4250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“Does time travel cost API calls?”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1220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“Where do checkpoints live in production?”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685800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2220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0625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030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74352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0" y="685800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42448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26496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10544" y="685800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3816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2220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0625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030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74352" y="1069848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0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42448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6496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210544" y="1069848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2220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0625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90304" y="1453896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74352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0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42448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6496" y="1453896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10544" y="1453896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3816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2220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906256" y="1837944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9030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74352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0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442448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26496" y="1837944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210544" y="1837944"/>
            <a:ext cx="63500" cy="63500"/>
          </a:xfrm>
          <a:prstGeom prst="ellipse">
            <a:avLst/>
          </a:prstGeom>
          <a:solidFill>
            <a:srgbClr val="3A4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WEEK 13  ·  SESSION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F2F4FF"/>
                </a:solidFill>
                <a:latin typeface="Aptos"/>
              </a:rPr>
              <a:t>Humans in the loop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4600" b="1" i="0">
                <a:solidFill>
                  <a:srgbClr val="9AA3C4"/>
                </a:solidFill>
                <a:latin typeface="Aptos"/>
              </a:rPr>
              <a:t>…and teams of agents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590288"/>
            <a:ext cx="146304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901184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Pause a graph for a person, survive a restart, then split the work.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Project: a blog team — parallel writers, a human on the outline and the sign-off.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Today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9961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99616"/>
            <a:ext cx="3810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7335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65506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Humans in 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673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59E0B"/>
                </a:solidFill>
                <a:latin typeface="Consolas"/>
              </a:rPr>
              <a:t>55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167335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interrupt, approve / edit / reject, persistence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13969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139696"/>
            <a:ext cx="38100" cy="5669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3134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A78BFA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229514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Teams of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2313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A78BFA"/>
                </a:solidFill>
                <a:latin typeface="Consolas"/>
              </a:rPr>
              <a:t>50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31343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Send, subgraphs, a supervisor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7977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79776"/>
            <a:ext cx="38100" cy="566928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2953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666E94"/>
                </a:solidFill>
                <a:latin typeface="Aptos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293522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Break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9535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66E94"/>
                </a:solidFill>
                <a:latin typeface="Consolas"/>
              </a:rPr>
              <a:t>15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295351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1985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419856"/>
            <a:ext cx="38100" cy="56692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359359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FB7185"/>
                </a:solidFill>
                <a:latin typeface="Apto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5648" y="357530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Project: the blog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0368" y="3593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B7185"/>
                </a:solidFill>
                <a:latin typeface="Consolas"/>
              </a:rPr>
              <a:t>30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6208" y="359359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both halves in one graph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059936"/>
            <a:ext cx="10874959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059936"/>
            <a:ext cx="38100" cy="566928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23367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666E94"/>
                </a:solidFill>
                <a:latin typeface="Aptos"/>
              </a:rPr>
              <a:t>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4215384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2F4FF"/>
                </a:solidFill>
                <a:latin typeface="Aptos"/>
              </a:rPr>
              <a:t>Appendix (take-home)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666E94"/>
                </a:solidFill>
                <a:latin typeface="Consolas"/>
              </a:rPr>
              <a:t>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233672"/>
            <a:ext cx="5114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code agent that repairs itself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WHY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Three things a real agent system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3442106" cy="26517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8424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ptos"/>
              </a:rPr>
              <a:t>Pause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578608"/>
            <a:ext cx="289346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stop mid-run, show a human something, continue with their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7588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interrupt()  +  Command(resume=…)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4794" y="1755648"/>
            <a:ext cx="3442106" cy="26517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9114" y="198424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 i="0">
                <a:solidFill>
                  <a:srgbClr val="22D3EE"/>
                </a:solidFill>
                <a:latin typeface="Aptos"/>
              </a:rPr>
              <a:t>Persist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9114" y="2578608"/>
            <a:ext cx="289346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the pause survives a restart, a deploy, a weekend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9114" y="367588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22D3EE"/>
                </a:solidFill>
                <a:latin typeface="Aptos"/>
              </a:rPr>
              <a:t>a durable checkpointer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1220" y="1755648"/>
            <a:ext cx="3442106" cy="265176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5540" y="198424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400" b="1" i="0">
                <a:solidFill>
                  <a:srgbClr val="A78BFA"/>
                </a:solidFill>
                <a:latin typeface="Aptos"/>
              </a:rPr>
              <a:t>Split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5540" y="2578608"/>
            <a:ext cx="289346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F2F4FF"/>
                </a:solidFill>
                <a:latin typeface="Aptos"/>
              </a:rPr>
              <a:t>many steps at once, and specialists instead of one do-everything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540" y="3675888"/>
            <a:ext cx="289346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 i="0">
                <a:solidFill>
                  <a:srgbClr val="A78BFA"/>
                </a:solidFill>
                <a:latin typeface="Aptos"/>
              </a:rPr>
              <a:t>Send · subgraphs · a supervisor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63600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80060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All three land in today's project, and all three are a few lines of LangGraph.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59E0B"/>
                </a:solidFill>
                <a:latin typeface="Aptos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Pause, decide,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Notebook Parts 1–3.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HUMANS IN THE LOOP · 55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PART 1 · THE PAUSE BUTTON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Park the run now. Resume it later.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manager_approval(r):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answer = interrupt({"question": "Approve?",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            "amount_inr": r["amount_inr"]})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{"decision": answer}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 = b.compile(checkpointer=InMemorySaver())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out = g.invoke({...}, cfg)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out["__interrupt__"][0].value   # the payload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666E94"/>
                </a:solidFill>
                <a:latin typeface="Consolas"/>
              </a:rPr>
              <a:t># minutes or days later: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g.invoke(Command(resume="yes"), cfg)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1618488"/>
            <a:ext cx="1589989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your code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19441" y="2075688"/>
            <a:ext cx="0" cy="2560320"/>
          </a:xfrm>
          <a:prstGeom prst="line">
            <a:avLst/>
          </a:prstGeom>
          <a:ln w="12700">
            <a:solidFill>
              <a:srgbClr val="2A3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3892" y="1618488"/>
            <a:ext cx="1589989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graph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928886" y="2075688"/>
            <a:ext cx="0" cy="2560320"/>
          </a:xfrm>
          <a:prstGeom prst="line">
            <a:avLst/>
          </a:prstGeom>
          <a:ln w="12700">
            <a:solidFill>
              <a:srgbClr val="2A3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43337" y="1618488"/>
            <a:ext cx="1589989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human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38331" y="2075688"/>
            <a:ext cx="0" cy="2560320"/>
          </a:xfrm>
          <a:prstGeom prst="line">
            <a:avLst/>
          </a:prstGeom>
          <a:ln w="12700">
            <a:solidFill>
              <a:srgbClr val="2A30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119441" y="2496312"/>
            <a:ext cx="1809445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52563" y="222199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9AA3C4"/>
                </a:solidFill>
                <a:latin typeface="Aptos"/>
              </a:rPr>
              <a:t>1. invoke(ticket)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119441" y="2880360"/>
            <a:ext cx="1809445" cy="0"/>
          </a:xfrm>
          <a:prstGeom prst="line">
            <a:avLst/>
          </a:prstGeom>
          <a:ln w="15875">
            <a:solidFill>
              <a:srgbClr val="666E94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652563" y="260604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2. __interrupt__: payload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19441" y="3264408"/>
            <a:ext cx="3618890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57286" y="299008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9AA3C4"/>
                </a:solidFill>
                <a:latin typeface="Aptos"/>
              </a:rPr>
              <a:t>3. show it (cell, Slack, web)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119441" y="3648456"/>
            <a:ext cx="3618890" cy="0"/>
          </a:xfrm>
          <a:prstGeom prst="line">
            <a:avLst/>
          </a:prstGeom>
          <a:ln w="15875">
            <a:solidFill>
              <a:srgbClr val="666E94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557286" y="3374136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4. "yes"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9441" y="4032504"/>
            <a:ext cx="1809445" cy="0"/>
          </a:xfrm>
          <a:prstGeom prst="line">
            <a:avLst/>
          </a:prstGeom>
          <a:ln w="15875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652563" y="375818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9AA3C4"/>
                </a:solidFill>
                <a:latin typeface="Aptos"/>
              </a:rPr>
              <a:t>5. invoke(Command(resume="yes"))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119441" y="4416552"/>
            <a:ext cx="1809445" cy="0"/>
          </a:xfrm>
          <a:prstGeom prst="line">
            <a:avLst/>
          </a:prstGeom>
          <a:ln w="15875">
            <a:solidFill>
              <a:srgbClr val="666E94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52563" y="414223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666E94"/>
                </a:solidFill>
                <a:latin typeface="Aptos"/>
              </a:rPr>
              <a:t>6. log: … PAID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ptos"/>
              </a:rPr>
              <a:t>Nothing blocks while it waits: no thread, no hanging input(). The state is in the checkpointer.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1 · THE ONE SURPRISE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Resume reruns the node from the 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201168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def careless_approval(r):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EMAILS_SENT.append("emailed manager")   # before!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answer = interrupt({...})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return {"decision": answer}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161848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AFTER ONE APPROVAL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20240"/>
            <a:ext cx="5208879" cy="1709928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2191" y="2103120"/>
            <a:ext cx="4751679" cy="1344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['emailed manager about N104455',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 i="0">
                <a:solidFill>
                  <a:srgbClr val="9AA3C4"/>
                </a:solidFill>
                <a:latin typeface="Consolas"/>
              </a:rPr>
              <a:t> 'emailed manager about N104455']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404164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931920"/>
            <a:ext cx="1058235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First run: the node runs up to interrupt() and stops.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45312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4343400"/>
            <a:ext cx="1058235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Resume: the node runs from its first line again. This time interrupt() returns the answer.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Side effects go after interrupt(), or in their own node. Before it: only code that is safe to repeat.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2 · APPROVE · EDIT · REJECT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human gate in front of the risky 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487168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75564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human_gate  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0128" y="321868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tools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395728" y="2039112"/>
            <a:ext cx="914400" cy="585216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64208" y="193852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issue_refund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95728" y="2916936"/>
            <a:ext cx="914400" cy="585216"/>
          </a:xfrm>
          <a:prstGeom prst="line">
            <a:avLst/>
          </a:prstGeom>
          <a:ln w="190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64208" y="349300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22D3EE"/>
                </a:solidFill>
                <a:latin typeface="Aptos"/>
              </a:rPr>
              <a:t>lookup_order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78808" y="2322576"/>
            <a:ext cx="0" cy="896112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70248" y="262432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34D399"/>
                </a:solidFill>
                <a:latin typeface="Aptos"/>
              </a:rPr>
              <a:t>approve /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1618488"/>
            <a:ext cx="1536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56" y="1618488"/>
            <a:ext cx="10017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ASKED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4982" y="1618488"/>
            <a:ext cx="113541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31567" y="1618488"/>
            <a:ext cx="10017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3328" y="1929384"/>
            <a:ext cx="5479999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2057400"/>
            <a:ext cx="13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 · duplicate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2056" y="205740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4999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4982" y="2057400"/>
            <a:ext cx="9342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31567" y="205740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4999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560320"/>
            <a:ext cx="13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B · scratch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2056" y="256032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3999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982" y="2560320"/>
            <a:ext cx="9342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edit →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31567" y="256032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2935224"/>
            <a:ext cx="5479999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063240"/>
            <a:ext cx="13352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C · day 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56" y="306324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INR 2499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4982" y="3063240"/>
            <a:ext cx="9342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reject + reason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31567" y="3063240"/>
            <a:ext cx="80059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9AA3C4"/>
                </a:solidFill>
                <a:latin typeface="Aptos"/>
              </a:rPr>
              <a:t>nothing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53328" y="3621024"/>
            <a:ext cx="5479999" cy="8229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3803904"/>
            <a:ext cx="50227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9AA3C4"/>
                </a:solidFill>
                <a:latin typeface="Consolas"/>
              </a:rPr>
              <a:t>C → "…cannot be approved as it is outside the 7-day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00" b="0" i="0">
                <a:solidFill>
                  <a:srgbClr val="9AA3C4"/>
                </a:solidFill>
                <a:latin typeface="Consolas"/>
              </a:rPr>
              <a:t>     return window. …repair or replacement under warranty."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The ledger is the proof: the risky tool ran only after a yes, with the human's arguments.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2 · COMMAND(GOTO, UPDATE)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gate is fifteen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27048"/>
            <a:ext cx="10874959" cy="34290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09928"/>
            <a:ext cx="10417759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human_gate(state) -&gt; Command[Literal["tools", "agent"]]: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last = state["messages"][-1]; call = last.tool_calls[0]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decision = interrupt({"tool": call["name"], "args": call["args"]})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decision["type"] == "approve":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Command(goto="tools")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if decision["type"] == "edit":        # same id -&gt; add_messages REPLACES the call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edited = AIMessage(content=last.content, id=last.id,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               tool_calls=[{**call, "args": decision["args"]}])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return Command(goto="tools", update={"messages": [edited]})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refusal = ToolMessage(f"A human reviewer REJECTED this refund: {decision['message']}",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              tool_call_id=call["id"])       # the model hears why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Command(goto="agent", update={"messages": [refusal]})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1389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53035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Command = choose the next node and update state, in one return.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PART 3 · PERSISTENCE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pause that survives a restart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30175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conn = sqlite3.connect("support_checkpoints.db")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 = build_support(SqliteSaver(conn))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turn(g, "D", "charged twice, refund please")  # 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conn.close(); del g       # "restart"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conn = sqlite3.connect("support_checkpoints.db")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 = build_support(SqliteSaver(conn))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g.get_state(cfg).next     # ('human_gate',)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turn(g, "D", resume={"type": "approve"})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5615" y="1618488"/>
            <a:ext cx="16471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CHECKPOINTER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3926" y="1618488"/>
            <a:ext cx="131108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LIVES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86181" y="1618488"/>
            <a:ext cx="164714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USE FOR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929384"/>
            <a:ext cx="520887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5615" y="2057400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InMemorySaver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3926" y="2057400"/>
            <a:ext cx="11099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this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86181" y="2057400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notebooks,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5615" y="2532888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SqliteSaver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926" y="2532888"/>
            <a:ext cx="11099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6181" y="2532888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one machine, demos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2880360"/>
            <a:ext cx="520887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5615" y="3008376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PostgresSaver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3926" y="3008376"/>
            <a:ext cx="11099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6181" y="3008376"/>
            <a:ext cx="14459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production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3584448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AFTER THE "RESTART"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24447" y="3858768"/>
            <a:ext cx="5208879" cy="6858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62191" y="4041648"/>
            <a:ext cx="47516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thread D: waiting at ('human_gate',)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💬 I have processed a refund of INR 4999…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91032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7492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ptos"/>
              </a:rPr>
              <a:t>Same interface, different storage. The thread_id becomes your ticket or job id.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A78BFA"/>
                </a:solidFill>
                <a:latin typeface="Apto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Fan out, nest, supervise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One agent with twenty tools gets confused. Split the work. Notebook Parts 4–6.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TEAMS OF AGENTS · 50 MINUTES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22D3EE"/>
                </a:solidFill>
                <a:latin typeface="Aptos"/>
              </a:rPr>
              <a:t>PART 1 · FAN OUT, GATHER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Send: one copy per item, all at 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18488"/>
            <a:ext cx="5208879" cy="25146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801368"/>
            <a:ext cx="4751679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class Batch(TypedDict):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reviews: list[str]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grades: Annotated[list, operator.add]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def fan_out(state):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return [Send("grade_one", {"i": i, "text": t})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           for i, t in enumerate(state["reviews"])]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b.add_conditional_edges(START, fan_out, ["grade_one"])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2624328"/>
            <a:ext cx="1097280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fan_out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709928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grade_one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7421727" y="1938528"/>
            <a:ext cx="731520" cy="932688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616287" y="1938528"/>
            <a:ext cx="731520" cy="932688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53247" y="2313432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grade_one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7421727" y="2542032"/>
            <a:ext cx="731520" cy="32918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16287" y="2542032"/>
            <a:ext cx="731520" cy="32918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53247" y="2916936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grade_one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2871216"/>
            <a:ext cx="731520" cy="27432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616287" y="2871216"/>
            <a:ext cx="731520" cy="27432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53247" y="3520440"/>
            <a:ext cx="146304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… × 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21727" y="2871216"/>
            <a:ext cx="731520" cy="87782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9616287" y="2871216"/>
            <a:ext cx="731520" cy="87782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347807" y="2624328"/>
            <a:ext cx="1280160" cy="50292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grades +=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" y="4407408"/>
            <a:ext cx="63500" cy="635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4297680"/>
            <a:ext cx="1058235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Each copy gets its payload, not the whole state.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4736592"/>
            <a:ext cx="63500" cy="635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26864"/>
            <a:ext cx="1058235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They finish in any order — carry an index, sort afterwards.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" y="5065776"/>
            <a:ext cx="63500" cy="635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956048"/>
            <a:ext cx="10582351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Without a reducer on grades, six copies writing one key in one step is an error.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367528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532120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Aptos"/>
              </a:rPr>
              <a:t>Live: 6 reviews graded in 1.3 s with Send, 6.0 s one after another.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PART 2 · SUBGRAPHS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subgraph is a tested unit you reuse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research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(KB search)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84708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79008" y="184708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fact_check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2167128"/>
            <a:ext cx="73152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47488" y="2167128"/>
            <a:ext cx="731520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47688" y="2487168"/>
            <a:ext cx="0" cy="41148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178808" y="2898648"/>
            <a:ext cx="2468880" cy="0"/>
          </a:xfrm>
          <a:prstGeom prst="line">
            <a:avLst/>
          </a:prstGeom>
          <a:ln w="190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178808" y="2487168"/>
            <a:ext cx="0" cy="411480"/>
          </a:xfrm>
          <a:prstGeom prst="line">
            <a:avLst/>
          </a:prstGeom>
          <a:ln w="19050">
            <a:solidFill>
              <a:srgbClr val="FB71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67328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B7185"/>
                </a:solidFill>
                <a:latin typeface="Aptos"/>
              </a:rPr>
              <a:t>unsupported claims: rewrite (max 2 drafts)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16368" y="2167128"/>
            <a:ext cx="731520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93608" y="20574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section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3447288"/>
            <a:ext cx="1856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TO EMBED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60" y="3447288"/>
            <a:ext cx="538327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1398" y="3447288"/>
            <a:ext cx="30319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WHEN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758184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886200"/>
            <a:ext cx="16550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same keys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6960" y="3886200"/>
            <a:ext cx="518210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parent.add_node("section", section_writer)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1398" y="3886200"/>
            <a:ext cx="28307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schemas share keys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361688"/>
            <a:ext cx="16550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different keys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6960" y="4361688"/>
            <a:ext cx="518210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call section_writer.invoke(...) inside a node, translate in and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1398" y="4361688"/>
            <a:ext cx="283075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project: blog state ≠ section state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892040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056632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Build it, test it alone, then drop it into bigger graphs.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2 · A PROMPT IS NOT A GUARANTEE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Why keep a checker if the writer behaves?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"MAKE IT EXCITING AND SPECIFIC" — NO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92808"/>
            <a:ext cx="5208879" cy="251460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A4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075688"/>
            <a:ext cx="4751679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1">
                <a:solidFill>
                  <a:srgbClr val="F2F4FF"/>
                </a:solidFill>
                <a:latin typeface="Aptos"/>
              </a:rPr>
              <a:t>“Our latest battery upgrade boosts your device's life by an incredible 40%… the new fast-charging tech gets you from 0 to 80% in just 30 minutes… enhanced durability and smarter energy management…”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THE SAME FACT-CHECKER</a:t>
            </a:r>
          </a:p>
        </p:txBody>
      </p:sp>
      <p:sp>
        <p:nvSpPr>
          <p:cNvPr id="13" name="Oval 12"/>
          <p:cNvSpPr/>
          <p:nvPr/>
        </p:nvSpPr>
        <p:spPr>
          <a:xfrm>
            <a:off x="6324447" y="207568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7055" y="196596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40% longer battery life — not in the sources</a:t>
            </a:r>
          </a:p>
        </p:txBody>
      </p:sp>
      <p:sp>
        <p:nvSpPr>
          <p:cNvPr id="15" name="Oval 14"/>
          <p:cNvSpPr/>
          <p:nvPr/>
        </p:nvSpPr>
        <p:spPr>
          <a:xfrm>
            <a:off x="6324447" y="257860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7055" y="246888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0 to 80% in 30 minutes — not in the sources</a:t>
            </a:r>
          </a:p>
        </p:txBody>
      </p:sp>
      <p:sp>
        <p:nvSpPr>
          <p:cNvPr id="17" name="Oval 16"/>
          <p:cNvSpPr/>
          <p:nvPr/>
        </p:nvSpPr>
        <p:spPr>
          <a:xfrm>
            <a:off x="6324447" y="308152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055" y="297180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enhanced durability, smarter energy management</a:t>
            </a:r>
          </a:p>
        </p:txBody>
      </p:sp>
      <p:sp>
        <p:nvSpPr>
          <p:cNvPr id="19" name="Oval 18"/>
          <p:cNvSpPr/>
          <p:nvPr/>
        </p:nvSpPr>
        <p:spPr>
          <a:xfrm>
            <a:off x="6324447" y="358444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7055" y="3474720"/>
            <a:ext cx="491627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✗  "much better", "more reliable"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681728"/>
            <a:ext cx="10874959" cy="7315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846320"/>
            <a:ext cx="103263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Nothing in the KB mentions a battery upgrade. One extra call per section stops an invented number reaching customers.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3 · THE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 supervisor routes; specialists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2807208"/>
            <a:ext cx="1737360" cy="64008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F2F4FF"/>
                </a:solidFill>
                <a:latin typeface="Aptos"/>
              </a:rPr>
              <a:t>supervisor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618488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researcher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search_kb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1709928" y="2167128"/>
            <a:ext cx="2011680" cy="640080"/>
          </a:xfrm>
          <a:prstGeom prst="line">
            <a:avLst/>
          </a:prstGeom>
          <a:ln w="19050">
            <a:solidFill>
              <a:srgbClr val="22D3E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864608" y="1618488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analyst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ticket_stats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721608" y="2167128"/>
            <a:ext cx="2011680" cy="640080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28" y="4133088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writer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no tools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21608" y="3447288"/>
            <a:ext cx="0" cy="68580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72744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 i="0">
                <a:solidFill>
                  <a:srgbClr val="666E94"/>
                </a:solidFill>
                <a:latin typeface="Aptos"/>
              </a:rPr>
              <a:t>every worker returns to the supervisor · MAX_HANDOFFS =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1591056"/>
            <a:ext cx="48399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LIVE — "FIVE-LINE CEO UPDATE ON THE ORBIT"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1892808"/>
            <a:ext cx="4839919" cy="192024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075688"/>
            <a:ext cx="438271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researcher: what went wrong,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                     is it fixed?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analyst: ticket count, peak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writer: five-line update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supervisor → FINISH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8" y="3950208"/>
            <a:ext cx="4839919" cy="96012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4133088"/>
            <a:ext cx="438271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"…215 support tickets, peaking at 71 in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 i="0">
                <a:solidFill>
                  <a:srgbClr val="9AA3C4"/>
                </a:solidFill>
                <a:latin typeface="Consolas"/>
              </a:rPr>
              <a:t> the week of 2026-W12…"   ✓ matches the 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PART 3 · CHOOSING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Workflow, supervisor or handoffs?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1618488"/>
            <a:ext cx="227041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1117" y="1618488"/>
            <a:ext cx="25175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WORKFLOW (YOU DRAW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9856" y="1618488"/>
            <a:ext cx="25175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SUPERVISOR (HUB)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8595" y="1618488"/>
            <a:ext cx="27647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HANDOFFS (RELAY, WEEK 11)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9384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057400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Who picks the next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1117" y="2057400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your edges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9856" y="2057400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routing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8595" y="2057400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the agent that's working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532888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Cost per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1117" y="2532888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9856" y="2532888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one extra model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595" y="2532888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none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2880360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008376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Where the budget lives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1117" y="3008376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your routers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9856" y="3008376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one place: the 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8595" y="3008376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every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3483864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Testable path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1117" y="3483864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yes — assert on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9856" y="3483864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per run, from the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8595" y="3483864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per 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831336"/>
            <a:ext cx="10874959" cy="47548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959352"/>
            <a:ext cx="206924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2F4FF"/>
                </a:solidFill>
                <a:latin typeface="Aptos"/>
              </a:rPr>
              <a:t>Use when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1117" y="3959352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steps are known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49856" y="3959352"/>
            <a:ext cx="231640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order depends on the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68595" y="3959352"/>
            <a:ext cx="256356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9AA3C4"/>
                </a:solidFill>
                <a:latin typeface="Aptos"/>
              </a:rPr>
              <a:t>a conversation moves between desks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489704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654296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A78BFA"/>
                </a:solidFill>
                <a:latin typeface="Aptos"/>
              </a:rPr>
              <a:t>Most production systems: a workflow on the outside, a model choosing only inside one node.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0" b="1" i="0">
                <a:solidFill>
                  <a:srgbClr val="FB7185"/>
                </a:solidFill>
                <a:latin typeface="Aptos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127248"/>
            <a:ext cx="10058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2F4FF"/>
                </a:solidFill>
                <a:latin typeface="Aptos"/>
              </a:rPr>
              <a:t>The Nimbus blog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1596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A human approves the outline, writers work in parallel, a human signs it off.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PROJECT · 30 MINUTES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THE 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Plan, approve, write in parallel, edit, sign 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plan_outline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31136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review_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outline 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6672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assemble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edit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22208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sign_off 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4976" y="2075688"/>
            <a:ext cx="1325880" cy="56692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 i="0">
                <a:solidFill>
                  <a:srgbClr val="F2F4FF"/>
                </a:solidFill>
                <a:latin typeface="Aptos"/>
              </a:rPr>
              <a:t>publish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03904" y="1389888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2F4FF"/>
                </a:solidFill>
                <a:latin typeface="Aptos"/>
              </a:rPr>
              <a:t>write_section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557016" y="1618488"/>
            <a:ext cx="246888" cy="7406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29784" y="1618488"/>
            <a:ext cx="246888" cy="7406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03904" y="2075688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2F4FF"/>
                </a:solidFill>
                <a:latin typeface="Aptos"/>
              </a:rPr>
              <a:t>write_section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557016" y="2304288"/>
            <a:ext cx="246888" cy="548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29784" y="2304288"/>
            <a:ext cx="246888" cy="54864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03904" y="2761488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2274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 i="0">
                <a:solidFill>
                  <a:srgbClr val="F2F4FF"/>
                </a:solidFill>
                <a:latin typeface="Aptos"/>
              </a:rPr>
              <a:t>write_section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57016" y="2359152"/>
            <a:ext cx="246888" cy="630936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129784" y="2359152"/>
            <a:ext cx="246888" cy="630936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03904" y="3264408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Send × 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984248" y="2359152"/>
            <a:ext cx="246888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02552" y="2359152"/>
            <a:ext cx="246888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75320" y="2359152"/>
            <a:ext cx="246888" cy="0"/>
          </a:xfrm>
          <a:prstGeom prst="line">
            <a:avLst/>
          </a:prstGeom>
          <a:ln w="19050">
            <a:solidFill>
              <a:srgbClr val="3A44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848088" y="2359152"/>
            <a:ext cx="246888" cy="0"/>
          </a:xfrm>
          <a:prstGeom prst="line">
            <a:avLst/>
          </a:prstGeom>
          <a:ln w="19050">
            <a:solidFill>
              <a:srgbClr val="34D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185148" y="2642616"/>
            <a:ext cx="0" cy="530352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612380" y="3172968"/>
            <a:ext cx="1572768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612380" y="2642616"/>
            <a:ext cx="0" cy="530352"/>
          </a:xfrm>
          <a:prstGeom prst="line">
            <a:avLst/>
          </a:prstGeom>
          <a:ln w="190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949440" y="3218688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i="0">
                <a:solidFill>
                  <a:srgbClr val="F59E0B"/>
                </a:solidFill>
                <a:latin typeface="Aptos"/>
              </a:rPr>
              <a:t>changes requested (max 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904488"/>
            <a:ext cx="3442106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12394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6" y="4098544"/>
            <a:ext cx="288432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EACH WRITE_SECTION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is the Part 2 subgraph: research → write → fact-check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4794" y="3904488"/>
            <a:ext cx="3442106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4250" y="4123944"/>
            <a:ext cx="38100" cy="165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3122" y="4098544"/>
            <a:ext cx="288432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22D3EE"/>
                </a:solidFill>
                <a:latin typeface="Aptos"/>
              </a:rPr>
              <a:t>ASSEMBLE WAITS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runs once, after every parallel copy has finished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1220" y="3904488"/>
            <a:ext cx="3442106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310676" y="4123944"/>
            <a:ext cx="38100" cy="165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29548" y="4098544"/>
            <a:ext cx="288432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B7185"/>
                </a:solidFill>
                <a:latin typeface="Aptos"/>
              </a:rPr>
              <a:t>PUBLISH IS LAST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only side effect, in its own node, after both pauses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4 · 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The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0874959" cy="22860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55648"/>
            <a:ext cx="10417759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plan_outline                                   ⏸ approve the outline  (3 sections)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outline edited by human                        + "What you need to do"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write_section 1: 1 draft(s), 0 unsupported claim(s) left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write_section 2 · 3 · 4: same                  (in parallel)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assemble  · edit                               ⏸ sign off to publish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changes requested by human                     "open with the apology… under 400 words"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edit (with human notes)                        ⏸ sign off to publish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· signed off by human  · publish                 ✅ blog/orbit-firmware-2-3-1.md  (266 words)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87368"/>
            <a:ext cx="3442106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" y="430682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4281424"/>
            <a:ext cx="288432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HUMAN EDIT 1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added a section the planner missed: what customers should actually 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4087368"/>
            <a:ext cx="3442106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94250" y="430682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3122" y="4281424"/>
            <a:ext cx="288432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FACT-CHECK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all 4 sections passed on the first draft, each citing 3 KB articles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1220" y="4087368"/>
            <a:ext cx="3442106" cy="114300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10676" y="430682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9548" y="4281424"/>
            <a:ext cx="2884322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HUMAN EDIT 2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open with the apology, under 400 words — done, and more (next slides)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B7185"/>
                </a:solidFill>
                <a:latin typeface="Aptos"/>
              </a:rPr>
              <a:t>PART 7 · TRUST, BUT VERIFY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Did the human's decision survive?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70287" y="603504"/>
            <a:ext cx="1389879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FB7185"/>
                </a:solidFill>
                <a:latin typeface="Aptos"/>
              </a:rPr>
              <a:t>PHOTOGRAPH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18488"/>
            <a:ext cx="5208879" cy="173736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01368"/>
            <a:ext cx="4751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today's run            an earlier run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✓ kept  ×4             ✓ kept  ×3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                   ✗ MISSING  "What you need to do"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                       ← the section the human added</a:t>
            </a:r>
          </a:p>
        </p:txBody>
      </p:sp>
      <p:sp>
        <p:nvSpPr>
          <p:cNvPr id="11" name="Oval 10"/>
          <p:cNvSpPr/>
          <p:nvPr/>
        </p:nvSpPr>
        <p:spPr>
          <a:xfrm>
            <a:off x="6324447" y="1801368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7055" y="1691640"/>
            <a:ext cx="491627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Same code, same prompt, different day — once it kept all four, once it dropped one.</a:t>
            </a:r>
          </a:p>
        </p:txBody>
      </p:sp>
      <p:sp>
        <p:nvSpPr>
          <p:cNvPr id="13" name="Oval 12"/>
          <p:cNvSpPr/>
          <p:nvPr/>
        </p:nvSpPr>
        <p:spPr>
          <a:xfrm>
            <a:off x="6324447" y="2368296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7055" y="2258568"/>
            <a:ext cx="491627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Asked for "under 400 words" and allowed to "remove things", the editor undid a human decision.</a:t>
            </a:r>
          </a:p>
        </p:txBody>
      </p:sp>
      <p:sp>
        <p:nvSpPr>
          <p:cNvPr id="15" name="Oval 14"/>
          <p:cNvSpPr/>
          <p:nvPr/>
        </p:nvSpPr>
        <p:spPr>
          <a:xfrm>
            <a:off x="6324447" y="2935224"/>
            <a:ext cx="63500" cy="635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7055" y="2825496"/>
            <a:ext cx="4916271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The scripted sign-off approved it anyway. A real reviewer might not have noticed either.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675888"/>
            <a:ext cx="5208879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" y="3895344"/>
            <a:ext cx="38100" cy="165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3869944"/>
            <a:ext cx="465109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Aptos"/>
              </a:rPr>
              <a:t>LEAST POWER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Don't let a step undo a human decision: keep every section, shorten inside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4447" y="3675888"/>
            <a:ext cx="5208879" cy="109728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3903" y="3895344"/>
            <a:ext cx="38100" cy="165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2775" y="3869944"/>
            <a:ext cx="465109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34D399"/>
                </a:solidFill>
                <a:latin typeface="Aptos"/>
              </a:rPr>
              <a:t>CHECK IT IN CODE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"Every approved heading is still there" is a rule. Put it in a node before sign_off (exercise 8).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01768"/>
            <a:ext cx="10874959" cy="5029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5166360"/>
            <a:ext cx="10326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Aptos"/>
              </a:rPr>
              <a:t>A human approval is only as good as what enforces it afterwards.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66E94"/>
                </a:solidFill>
                <a:latin typeface="Aptos"/>
              </a:rPr>
              <a:t>TAKE-HOME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Appendix: a code agent that repairs itself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801368"/>
            <a:ext cx="63500" cy="63500"/>
          </a:xfrm>
          <a:prstGeom prst="ellipse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691640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ticket comes in. The agent plans, a human approves the plan, it writes the code.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459736"/>
            <a:ext cx="63500" cy="63500"/>
          </a:xfrm>
          <a:prstGeom prst="ellipse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static check refuses unsafe imports before anything runs.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118104"/>
            <a:ext cx="63500" cy="63500"/>
          </a:xfrm>
          <a:prstGeom prst="ellipse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008376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Hidden tests it has never seen decide whether it's done.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776472"/>
            <a:ext cx="63500" cy="63500"/>
          </a:xfrm>
          <a:prstGeom prst="ellipse">
            <a:avLst/>
          </a:prstGeom>
          <a:solidFill>
            <a:srgbClr val="66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666744"/>
            <a:ext cx="491627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It debugs its own failures — up to a budget — then asks a human for a hint.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447" y="1709928"/>
            <a:ext cx="5208879" cy="1828800"/>
          </a:xfrm>
          <a:prstGeom prst="roundRect">
            <a:avLst>
              <a:gd name="adj" fmla="val 8000"/>
            </a:avLst>
          </a:prstGeom>
          <a:solidFill>
            <a:srgbClr val="0A0D1E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2191" y="1892808"/>
            <a:ext cx="475167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run_tests #1: 10/13 passed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→ debug → run_tests #2: 12/13 passed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 i="0">
                <a:solidFill>
                  <a:srgbClr val="9AA3C4"/>
                </a:solidFill>
                <a:latin typeface="Consolas"/>
              </a:rPr>
              <a:t>   → debug → run_tests #3: 13/13 passed  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3721608"/>
            <a:ext cx="5208879" cy="1005840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43903" y="3941064"/>
            <a:ext cx="38100" cy="165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2775" y="3915664"/>
            <a:ext cx="4651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200" b="1" i="0">
                <a:solidFill>
                  <a:srgbClr val="FB7185"/>
                </a:solidFill>
                <a:latin typeface="Aptos"/>
              </a:rPr>
              <a:t>THE STING IN THE TAIL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13/13 passing — and the shipped module still had two definitions of the same function.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956048"/>
            <a:ext cx="10874959" cy="54864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666E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120640"/>
            <a:ext cx="10326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666E94"/>
                </a:solidFill>
                <a:latin typeface="Aptos"/>
              </a:rPr>
              <a:t>Tests tell you the code is correct. They don't tell you it's mergeable.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6181344"/>
            <a:ext cx="10874959" cy="9525"/>
          </a:xfrm>
          <a:prstGeom prst="rect">
            <a:avLst/>
          </a:prstGeom>
          <a:solidFill>
            <a:srgbClr val="2A3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3276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 i="0">
                <a:solidFill>
                  <a:srgbClr val="666E94"/>
                </a:solidFill>
                <a:latin typeface="Aptos"/>
              </a:rPr>
              <a:t>LangGraph  ·  Week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36047" y="63276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00" b="0" i="0">
                <a:solidFill>
                  <a:srgbClr val="666E94"/>
                </a:solidFill>
                <a:latin typeface="Aptos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926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34D399"/>
                </a:solidFill>
                <a:latin typeface="Aptos"/>
              </a:rPr>
              <a:t>WRAP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21792"/>
            <a:ext cx="50800" cy="4023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66928"/>
            <a:ext cx="10692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2F4FF"/>
                </a:solidFill>
                <a:latin typeface="Aptos"/>
              </a:rPr>
              <a:t>What you take 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Aptos"/>
              </a:rPr>
              <a:t>HUMANS IN THE LOOP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029968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491627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interrupt() pauses; Command(resume=…) continues. The node reruns from the top.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743200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33472"/>
            <a:ext cx="491627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Approve / edit / reject is Command(goto, update) plus replace-by-id.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56432"/>
            <a:ext cx="63500" cy="635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346704"/>
            <a:ext cx="491627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durable checkpointer makes the pause survive a restart — and is your approvals inbox.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591056"/>
            <a:ext cx="52088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A78BFA"/>
                </a:solidFill>
                <a:latin typeface="Aptos"/>
              </a:rPr>
              <a:t>TEAMS</a:t>
            </a:r>
          </a:p>
        </p:txBody>
      </p:sp>
      <p:sp>
        <p:nvSpPr>
          <p:cNvPr id="16" name="Oval 15"/>
          <p:cNvSpPr/>
          <p:nvPr/>
        </p:nvSpPr>
        <p:spPr>
          <a:xfrm>
            <a:off x="6324447" y="2029968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7055" y="1920240"/>
            <a:ext cx="491627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Send fans out as many copies as the data needs; a reducer gathers them.</a:t>
            </a:r>
          </a:p>
        </p:txBody>
      </p:sp>
      <p:sp>
        <p:nvSpPr>
          <p:cNvPr id="18" name="Oval 17"/>
          <p:cNvSpPr/>
          <p:nvPr/>
        </p:nvSpPr>
        <p:spPr>
          <a:xfrm>
            <a:off x="6324447" y="2743200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055" y="2633472"/>
            <a:ext cx="491627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subgraph is a unit you test once and reuse.</a:t>
            </a:r>
          </a:p>
        </p:txBody>
      </p:sp>
      <p:sp>
        <p:nvSpPr>
          <p:cNvPr id="20" name="Oval 19"/>
          <p:cNvSpPr/>
          <p:nvPr/>
        </p:nvSpPr>
        <p:spPr>
          <a:xfrm>
            <a:off x="6324447" y="3456432"/>
            <a:ext cx="63500" cy="635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055" y="3346704"/>
            <a:ext cx="491627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9AA3C4"/>
                </a:solidFill>
                <a:latin typeface="Aptos"/>
              </a:rPr>
              <a:t>A supervisor routes when the order isn't known — and holds the budget.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224528"/>
            <a:ext cx="10874959" cy="731520"/>
          </a:xfrm>
          <a:prstGeom prst="roundRect">
            <a:avLst>
              <a:gd name="adj" fmla="val 8000"/>
            </a:avLst>
          </a:prstGeom>
          <a:solidFill>
            <a:srgbClr val="080A1A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389120"/>
            <a:ext cx="1032631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00" b="1" i="0">
                <a:solidFill>
                  <a:srgbClr val="34D399"/>
                </a:solidFill>
                <a:latin typeface="Aptos"/>
              </a:rPr>
              <a:t>Humans where judgement is cheapest: the outline and the sign-off. Then check in code that their decision survived.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2860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200" b="1" i="0">
                <a:solidFill>
                  <a:srgbClr val="F2F4FF"/>
                </a:solidFill>
                <a:latin typeface="Aptos"/>
              </a:rPr>
              <a:t>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474720"/>
            <a:ext cx="146304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785615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03_hitl_and_agent_teams.ipynb — rerun it; your blog post will come out different.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700" b="0" i="0">
                <a:solidFill>
                  <a:srgbClr val="9AA3C4"/>
                </a:solidFill>
                <a:latin typeface="Aptos"/>
              </a:rPr>
              <a:t>The appendix runs on its own whenever you want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“How do I show interrupts in a web app?”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4794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4250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“How many agents is too many?”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1220" y="5212080"/>
            <a:ext cx="3442106" cy="749808"/>
          </a:xfrm>
          <a:prstGeom prst="roundRect">
            <a:avLst>
              <a:gd name="adj" fmla="val 8000"/>
            </a:avLst>
          </a:prstGeom>
          <a:solidFill>
            <a:srgbClr val="1A1E3C"/>
          </a:solidFill>
          <a:ln w="12700">
            <a:solidFill>
              <a:srgbClr val="2A3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5394960"/>
            <a:ext cx="300319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666E94"/>
                </a:solidFill>
                <a:latin typeface="Aptos"/>
              </a:rPr>
              <a:t>“What about tracing and cost?”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LangGraph — Week 13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