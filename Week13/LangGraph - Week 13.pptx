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(2 min). All of last week, create_agent was quietly a graph. This week we draw our own.</a:t>
            </a:r>
          </a:p>
          <a:p>
            <a:r>
              <a:t>Session 1: the four parts and a router. Session 2: humans in the loop, persistence, and a</a:t>
            </a:r>
          </a:p>
          <a:p>
            <a:r>
              <a:t>code agent that repairs itself. Session 3: teams of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 (3 min). Point at the last column. Nothing here is new as an idea; what is new is that</a:t>
            </a:r>
          </a:p>
          <a:p>
            <a:r>
              <a:t>you decide the shape. Remind them that create_agent's checkpointer and Command(resume=...)</a:t>
            </a:r>
          </a:p>
          <a:p>
            <a:r>
              <a:t>from last week were already LangGraph.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(7 min). Callback to Week 11's first guardrail trap: input guardrails ran only on the</a:t>
            </a:r>
          </a:p>
          <a:p>
            <a:r>
              <a:t>first agent of a turn, so a handoff skipped them. In a graph the check is a node on every</a:t>
            </a:r>
          </a:p>
          <a:p>
            <a:r>
              <a:t>path. Nothing can skip it, because the path doesn't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Open 02_langgraph_basics.ipynb.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SMALLEST GRAPH (8 min). Live output:</a:t>
            </a:r>
          </a:p>
          <a:p>
            <a:r>
              <a:t>{'text': 'MY WATCH IS BURNING HOT', 'word_count': 5, 'shouting': True}</a:t>
            </a:r>
          </a:p>
          <a:p>
            <a:r>
              <a:t>Point out that measure never mentions shouting: nodes return partial updates.</a:t>
            </a:r>
          </a:p>
          <a:p>
            <a:r>
              <a:t>compile() validates the blueprint and returns a Runnable (invoke / stream / batch).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REDUCERS (8 min). The most common LangGraph bug. Without a reducer, b's update replaced</a:t>
            </a:r>
          </a:p>
          <a:p>
            <a:r>
              <a:t>everything a wrote. add_messages' replace-by-id behaviour is what makes time travel work in</a:t>
            </a:r>
          </a:p>
          <a:p>
            <a:r>
              <a:t>Part 5, so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LOOPS (12 min). A conditional edge calls a routing function that returns the next node's</a:t>
            </a:r>
          </a:p>
          <a:p>
            <a:r>
              <a:t>name. Point an edge backwards and you have a loop. The live run needed two attempts.</a:t>
            </a:r>
          </a:p>
          <a:p>
            <a:r>
              <a:t>Ask the room: what happens if you forget the attempts check and the model never gets under</a:t>
            </a:r>
          </a:p>
          <a:p>
            <a:r>
              <a:t>12 words? (recursion_limit stops it at 25 steps.)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BY HAND (15 min). Put this picture next to Week 10's while loop: same thing.</a:t>
            </a:r>
          </a:p>
          <a:p>
            <a:r>
              <a:t>tools_condition is a three-line routing function: tool calls -&gt; "tools", else END.</a:t>
            </a:r>
          </a:p>
          <a:p>
            <a:r>
              <a:t>ToolNode ran both get_price calls from one model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AS A NODE (8 min). This is the slide that answers "do I have to throw away create_agent?"</a:t>
            </a:r>
          </a:p>
          <a:p>
            <a:r>
              <a:t>— no. Two directions:</a:t>
            </a:r>
          </a:p>
          <a:p/>
          <a:p>
            <a:r>
              <a:t>1. create_agent RETURNS a LangGraph graph, so it can draw itself. Put its picture next to the</a:t>
            </a:r>
          </a:p>
          <a:p>
            <a:r>
              <a:t>   one the room just built: identical, except LangChain names the node "model".</a:t>
            </a:r>
          </a:p>
          <a:p>
            <a:r>
              <a:t>2. A whole agent can be ONE node in a graph you own. In the live cell the agent worked out</a:t>
            </a:r>
          </a:p>
          <a:p>
            <a:r>
              <a:t>   2 x 1799 = 3598 on its own (open-ended reasoning — what agents are for), and the graph still</a:t>
            </a:r>
          </a:p>
          <a:p>
            <a:r>
              <a:t>   guaranteed check_length ran afterwards.</a:t>
            </a:r>
          </a:p>
          <a:p/>
          <a:p>
            <a:r>
              <a:t>This is the production pattern: a graph on the outside, an agent inside a node. Notebook Part 4.1.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TRAVEL (15 min). compile(checkpointer=InMemorySaver()) and a thread_id: that's what gave</a:t>
            </a:r>
          </a:p>
          <a:p>
            <a:r>
              <a:t>memory last week. It also gives history. get_state_history lists every checkpoint newest</a:t>
            </a:r>
          </a:p>
          <a:p>
            <a:r>
              <a:t>first. update_state on an old checkpoint creates a fork; invoke(None, fork) continues from it.</a:t>
            </a:r>
          </a:p>
          <a:p/>
          <a:p>
            <a:r>
              <a:t>Use cases: debugging (rewind to the step that went wrong, change one thing, rerun what</a:t>
            </a:r>
          </a:p>
          <a:p>
            <a:r>
              <a:t>follows), "regenerate" and "undo" buttons, and what-if testing of routing policy (project).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STREAMING (5 min). Quick. updates is what you'll use most for progress indicators.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Notebook Part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(15 min). The safety check is code OR model: a regex on words like burning/smoke,</a:t>
            </a:r>
          </a:p>
          <a:p>
            <a:r>
              <a:t>plus the classifier's flag. Either can fire; neither can be talked out of it.</a:t>
            </a:r>
          </a:p>
          <a:p>
            <a:r>
              <a:t>Urgency is forced to 5 for safety tickets — policy, not a model's opinion.</a:t>
            </a:r>
          </a:p>
          <a:p>
            <a:r>
              <a:t>The review loop is bounded by MAX_DRAFTS = 2, then it escalates to a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(10 min). Real run. Show the path column in the notebook too: every ticket's journey</a:t>
            </a:r>
          </a:p>
          <a:p>
            <a:r>
              <a:t>through the graph, which you can assert on in a unit test. That's the practical payoff of</a:t>
            </a:r>
          </a:p>
          <a:p>
            <a:r>
              <a:t>drawing the graph: the policy becomes testable.</a:t>
            </a:r>
          </a:p>
          <a:p/>
          <a:p>
            <a:r>
              <a:t>Be honest about the review loop: in our run every draft was approved the first time.</a:t>
            </a:r>
          </a:p>
          <a:p>
            <a:r>
              <a:t>Results vary run to run. Exercise 3 (reject anything over 60 words) makes the loop fire.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WHAT-IF (8 min). Same ticket, rewound to the checkpoint after classify, one fact changed, and</a:t>
            </a:r>
          </a:p>
          <a:p>
            <a:r>
              <a:t>the graph re-decided from there. The urgency model saw "premium, third time, NOW" and scored 4,</a:t>
            </a:r>
          </a:p>
          <a:p>
            <a:r>
              <a:t>which crosses the escalation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(3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(2 min). Session 1's graphs ran start to finish on their own. Today they stop and wait</a:t>
            </a:r>
          </a:p>
          <a:p>
            <a:r>
              <a:t>for a person, survive a restart while they wait, and loop on their own mistakes until</a:t>
            </a:r>
          </a:p>
          <a:p>
            <a:r>
              <a:t>something real (tests) says they're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(5 min). The grey line on each card is where they met it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Open 03_human_in_the_loop.ipynb.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INTERRUPT (12 min). Live output: paused? True, payload {question, order, amount_inr: 4999},</a:t>
            </a:r>
          </a:p>
          <a:p>
            <a:r>
              <a:t>waiting at ('manager_approval',). Then resume: ['proposed INR 4999', 'manager said: yes', 'PAID'].</a:t>
            </a:r>
          </a:p>
          <a:p>
            <a:r>
              <a:t>A checkpointer is required: the paused graph has to live somewhere.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RERUN (8 min). The most common interrupt bug. The node doesn't resume mid-function; Python</a:t>
            </a:r>
          </a:p>
          <a:p>
            <a:r>
              <a:t>can't do that across processes. LangGraph replays the node, and interrupt() returns the stored</a:t>
            </a:r>
          </a:p>
          <a:p>
            <a:r>
              <a:t>answer the second time. Paying, emailing, writing to a DB: after the interrupt, or in a node</a:t>
            </a:r>
          </a:p>
          <a:p>
            <a:r>
              <a:t>of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GATE (12 min). The route after agent sends only issue_refund calls to the gate; lookup_order</a:t>
            </a:r>
          </a:p>
          <a:p>
            <a:r>
              <a:t>runs freely. parallel_tool_calls=False so there's one decision per pause.</a:t>
            </a:r>
          </a:p>
          <a:p/>
          <a:p>
            <a:r>
              <a:t>Rehearsal lesson: the first prompt said "a human approves every refund", and in case C the</a:t>
            </a:r>
          </a:p>
          <a:p>
            <a:r>
              <a:t>model told the customer the refund was "pending approval" without calling the tool at all,</a:t>
            </a:r>
          </a:p>
          <a:p>
            <a:r>
              <a:t>so there was nothing to reject. The fix was in the prompt: "don't judge eligibility yourself;</a:t>
            </a:r>
          </a:p>
          <a:p>
            <a:r>
              <a:t>a reviewer checks every issue_refund call, and you'll see their decision as the tool's result."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COMMAND (8 min). This is what HumanInTheLoopMiddleware did inside, last week. Now that you</a:t>
            </a:r>
          </a:p>
          <a:p>
            <a:r>
              <a:t>own it you can change it: two approvers above INR 10,000, auto-approve under INR 100, route</a:t>
            </a:r>
          </a:p>
          <a:p>
            <a:r>
              <a:t>rejections to a different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PERSISTENCE (15 min). The approvals-inbox cell lists every thread parked at a pause, straight</a:t>
            </a:r>
          </a:p>
          <a:p>
            <a:r>
              <a:t>from the checkpointer: the backend of an approvals page (exercise 5). If there's time, really</a:t>
            </a:r>
          </a:p>
          <a:p>
            <a:r>
              <a:t>restart the kernel between the two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Notebook Part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 (5 min). Rehearsal finding worth telling: with a fully specified ticket, even</a:t>
            </a:r>
          </a:p>
          <a:p>
            <a:r>
              <a:t>gpt-4.1-nano passed all tests first time, and the repair loop never ran. Real tickets are</a:t>
            </a:r>
          </a:p>
          <a:p>
            <a:r>
              <a:t>vague; that's when the loop earns its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 (12 min). Walk the happy path along the top first, then the two loops.</a:t>
            </a:r>
          </a:p>
          <a:p>
            <a:r>
              <a:t>Loop 1: check_code → run_tests → debug → check_code, bounded by max_attempts (3).</a:t>
            </a:r>
          </a:p>
          <a:p>
            <a:r>
              <a:t>Loop 2: ask_human → debug, bounded by MAX_HINTS (2). Rehearsal: with an unbounded human loop</a:t>
            </a:r>
          </a:p>
          <a:p>
            <a:r>
              <a:t>and gpt-4.1-nano as the coder, the prototype asked for help forever. Every loop needs a budget,</a:t>
            </a:r>
          </a:p>
          <a:p>
            <a:r>
              <a:t>including the one with a person in it.</a:t>
            </a:r>
          </a:p>
          <a:p>
            <a:r>
              <a:t>Everything is checkpointed to code_agent.db: you can stop at either pause and resume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SAFETY (5 min). Be blunt that a subprocess with a timeout is a speed bump, not a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(10 min). Runs differ even at temperature 0, because the plan differs. The saved notebook</a:t>
            </a:r>
          </a:p>
          <a:p>
            <a:r>
              <a:t>run: 10/13 → 12/13 → 13/13. In rehearsal, 3 of 6 runs stopped at ask_human; a generic hint</a:t>
            </a:r>
          </a:p>
          <a:p>
            <a:r>
              <a:t>("take each failing call literally, find the rule it pins down") got them through.</a:t>
            </a:r>
          </a:p>
          <a:p>
            <a:r>
              <a:t>If your live run stops for help, read the failures out loud and write the hint with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GOOD (8 min). Real output from the saved run. The debug node was told to "reply with the</a:t>
            </a:r>
          </a:p>
          <a:p>
            <a:r>
              <a:t>complete corrected module", and it did — with its whole thought process left in, and a</a:t>
            </a:r>
          </a:p>
          <a:p>
            <a:r>
              <a:t>second definition appended. Every test passed.</a:t>
            </a:r>
          </a:p>
          <a:p/>
          <a:p>
            <a:r>
              <a:t>This is Goodhart's law for agents. It's also why the course keeps coming back to evaluation:</a:t>
            </a:r>
          </a:p>
          <a:p>
            <a:r>
              <a:t>the loop is only as good as what closes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(3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(2 min). One agent with twenty tools gets confused, the same way one person doing every</a:t>
            </a:r>
          </a:p>
          <a:p>
            <a:r>
              <a:t>job does. Today: three ways to split work, and the decision of when to let a model do the</a:t>
            </a:r>
          </a:p>
          <a:p>
            <a:r>
              <a:t>splitting.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BLOCKS (8 min). The band is Session 1's rule, extended to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Open 04_multi_agent_teams.ipynb.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SEND (15 min). The number of copies is decided at run time by the data — unlike Session 1,</a:t>
            </a:r>
          </a:p>
          <a:p>
            <a:r>
              <a:t>where every branch was drawn in advance. Sync invoke runs the copies on a thread pool.</a:t>
            </a:r>
          </a:p>
          <a:p>
            <a:r>
              <a:t>Watch rate limits when N gets large (exercise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SUBGRAPH (12 min). Run the standalone test cell: "What is smart charging?" passed on the</a:t>
            </a:r>
          </a:p>
          <a:p>
            <a:r>
              <a:t>first draft with nothing flagged. The writer is told to use only its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CHECKER (8 min). Real output. In rehearsal, one run of the same prompt described the Orbit</a:t>
            </a:r>
          </a:p>
          <a:p>
            <a:r>
              <a:t>as if it were a scooter ("30% more ride time… an extra 15 miles"). With no sources, "specific"</a:t>
            </a:r>
          </a:p>
          <a:p>
            <a:r>
              <a:t>means "invented". The constrained writer passed every time we tried it; the checker is</a:t>
            </a:r>
          </a:p>
          <a:p>
            <a:r>
              <a:t>insurance for the day it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SUPERVISOR (15 min). Nobody drew the order researcher → analyst → writer; the supervisor chose</a:t>
            </a:r>
          </a:p>
          <a:p>
            <a:r>
              <a:t>it from the request. Each worker is a create_agent from last week with only the tools for its</a:t>
            </a:r>
          </a:p>
          <a:p>
            <a:r>
              <a:t>job. Try the one-worker question from the notebook ("which week had the most orbit-heat</a:t>
            </a:r>
          </a:p>
          <a:p>
            <a:r>
              <a:t>tickets?") and watch the path shrink.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(7 min). Map Week 11's travel concierge desks onto the right-hand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Notebook Part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BLOG GRAPH (10 min). The steps are known, so it's a workflow — Session 1's rule. The parts</a:t>
            </a:r>
          </a:p>
          <a:p>
            <a:r>
              <a:t>that vary use today's tools: Send for however many sections the outline has, and the section</a:t>
            </a:r>
          </a:p>
          <a:p>
            <a:r>
              <a:t>subgraph for each one. Humans sit at the two points where judgement is cheapest: the outline</a:t>
            </a:r>
          </a:p>
          <a:p>
            <a:r>
              <a:t>and the final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(15 min). Walk the log with the notebook open. The edit at the outline stage is the</a:t>
            </a:r>
          </a:p>
          <a:p>
            <a:r>
              <a:t>cheapest change in the whole pipeline: one line of the outline instead of rewriting a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REPEATS (6 min). Real output from the saved run: three sections each explain how to update.</a:t>
            </a:r>
          </a:p>
          <a:p>
            <a:r>
              <a:t>The same trade-off every engineering team knows: parallel work needs clear interfaces.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DROPPED (8 min). Real output from the saved run, found while checking the published file.</a:t>
            </a:r>
          </a:p>
          <a:p>
            <a:r>
              <a:t>The human's one edit at the outline stage — the cheapest, most valuable change in the</a:t>
            </a:r>
          </a:p>
          <a:p>
            <a:r>
              <a:t>pipeline — was silently undone two steps later by a model following a word limit.</a:t>
            </a:r>
          </a:p>
          <a:p/>
          <a:p>
            <a:r>
              <a:t>This connects to Session 2's "tests pass, code is bad": an agent optimises for the checks it</a:t>
            </a:r>
          </a:p>
          <a:p>
            <a:r>
              <a:t>has. If nothing checks that human decisions survive, they may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 (5 min). Close the four-week block. Everything since Week 10 is the same observe-decide-act</a:t>
            </a:r>
          </a:p>
          <a:p>
            <a:r>
              <a:t>loop with more of it made explicit. Frameworks change; the questions don't: who decides the</a:t>
            </a:r>
          </a:p>
          <a:p>
            <a:r>
              <a:t>next step, what's the budget, where does a human look, what checks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(3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138160" y="685800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22208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06256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90304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74352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0" y="685800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42448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26496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38160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22208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06256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0304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74352" y="106984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0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2448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26496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10544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38160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22208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06256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0304" y="1453896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74352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0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42448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26496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10544" y="1453896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38160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22208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906256" y="1837944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90304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74352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58400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442448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826496" y="1837944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210544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WEEK 13  ·  SESSION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4600" b="1" i="0">
                <a:solidFill>
                  <a:srgbClr val="F2F4FF"/>
                </a:solidFill>
                <a:latin typeface="Aptos"/>
              </a:rPr>
              <a:t>LangGraph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4600" b="1" i="0">
                <a:solidFill>
                  <a:srgbClr val="9AA3C4"/>
                </a:solidFill>
                <a:latin typeface="Aptos"/>
              </a:rPr>
              <a:t>Drawing the loop yourself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4590288"/>
            <a:ext cx="146304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901184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State, nodes, edges, checkpoints — and time travel.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Project: a support-ticket router where the order of steps is policy.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THE ARC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The same four ideas, four weeks running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618488"/>
            <a:ext cx="15743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5039" y="1618488"/>
            <a:ext cx="201821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WEEK 10 · BY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4418" y="1618488"/>
            <a:ext cx="201821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WEEK 11 · AGENTS SDK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3797" y="1618488"/>
            <a:ext cx="201821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WEEK 12 · LANGCHAIN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93176" y="1618488"/>
            <a:ext cx="22401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WEEK 13 · LANGGRAPH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29384"/>
            <a:ext cx="10874959" cy="51206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137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The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5039" y="2057400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while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4418" y="2057400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Runner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3797" y="2057400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create_agent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3176" y="2057400"/>
            <a:ext cx="203898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you draw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2569464"/>
            <a:ext cx="137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Deciding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5039" y="2569464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if statements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4418" y="2569464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handoffs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3797" y="2569464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middleware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3176" y="2569464"/>
            <a:ext cx="203898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conditional edges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2953512"/>
            <a:ext cx="10874959" cy="51206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3081528"/>
            <a:ext cx="137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Memory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5039" y="3081528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messages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4418" y="3081528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Session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3797" y="3081528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checkpointer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3176" y="3081528"/>
            <a:ext cx="203898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state + checkpointer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3593592"/>
            <a:ext cx="137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Pausing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5039" y="3593592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input()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4418" y="3593592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RunState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73797" y="3593592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Command(resume=…)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3176" y="3593592"/>
            <a:ext cx="203898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interrupt + time travel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251960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416552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LangGraph runs underneath create_agent. This week you draw your own graph.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Two and a half hours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9961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99616"/>
            <a:ext cx="38100" cy="5669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733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ptos"/>
              </a:rPr>
              <a:t>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6550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Why draw a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673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34D399"/>
                </a:solidFill>
                <a:latin typeface="Consolas"/>
              </a:rPr>
              <a:t>10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167335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When the order of steps is policy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13969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139696"/>
            <a:ext cx="38100" cy="5669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134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ptos"/>
              </a:rPr>
              <a:t>0:10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229514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State, nodes, edges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23134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34D399"/>
                </a:solidFill>
                <a:latin typeface="Consolas"/>
              </a:rPr>
              <a:t>20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31343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smallest graph, and reducers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77977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79776"/>
            <a:ext cx="38100" cy="5669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2953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22D3EE"/>
                </a:solidFill>
                <a:latin typeface="Aptos"/>
              </a:rPr>
              <a:t>0:30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5648" y="293522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Branches and loops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9535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22D3EE"/>
                </a:solidFill>
                <a:latin typeface="Consolas"/>
              </a:rPr>
              <a:t>20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295351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Conditional edges, and a budget on every loop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41985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3419856"/>
            <a:ext cx="38100" cy="5669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359359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A78BFA"/>
                </a:solidFill>
                <a:latin typeface="Aptos"/>
              </a:rPr>
              <a:t>0:50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5648" y="357530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create_agent, opened 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0368" y="35935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A78BFA"/>
                </a:solidFill>
                <a:latin typeface="Consolas"/>
              </a:rPr>
              <a:t>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6208" y="359359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agent → tools → agent, by hand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05993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4059936"/>
            <a:ext cx="3810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23367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ptos"/>
              </a:rPr>
              <a:t>1:10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5648" y="421538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Checkpoints and time travel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0368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59E0B"/>
                </a:solidFill>
                <a:latin typeface="Consolas"/>
              </a:rPr>
              <a:t>20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423367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History, rewind, branch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70001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700016"/>
            <a:ext cx="38100" cy="566928"/>
          </a:xfrm>
          <a:prstGeom prst="rect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" y="48737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666E94"/>
                </a:solidFill>
                <a:latin typeface="Aptos"/>
              </a:rPr>
              <a:t>1:30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5648" y="48554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Break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0368" y="48737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66E94"/>
                </a:solidFill>
                <a:latin typeface="Consolas"/>
              </a:rPr>
              <a:t>15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487375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34009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5340096"/>
            <a:ext cx="38100" cy="56692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6112" y="55138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B7185"/>
                </a:solidFill>
                <a:latin typeface="Aptos"/>
              </a:rPr>
              <a:t>1:45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55648" y="549554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Project: ticket router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30368" y="55138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B7185"/>
                </a:solidFill>
                <a:latin typeface="Consolas"/>
              </a:rPr>
              <a:t>45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551383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Safety check, review loop, policy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WHY DRAW A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Who decides what happens next?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5208879" cy="2834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75104"/>
            <a:ext cx="466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 i="0">
                <a:solidFill>
                  <a:srgbClr val="A78BFA"/>
                </a:solidFill>
                <a:latin typeface="Aptos"/>
              </a:rPr>
              <a:t>The model decides  ·  create_agent</a:t>
            </a:r>
          </a:p>
        </p:txBody>
      </p:sp>
      <p:sp>
        <p:nvSpPr>
          <p:cNvPr id="10" name="Oval 9"/>
          <p:cNvSpPr/>
          <p:nvPr/>
        </p:nvSpPr>
        <p:spPr>
          <a:xfrm>
            <a:off x="969264" y="2624328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2514600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next step depends on what it just found</a:t>
            </a:r>
          </a:p>
        </p:txBody>
      </p:sp>
      <p:sp>
        <p:nvSpPr>
          <p:cNvPr id="12" name="Oval 11"/>
          <p:cNvSpPr/>
          <p:nvPr/>
        </p:nvSpPr>
        <p:spPr>
          <a:xfrm>
            <a:off x="969264" y="3099816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990088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open-ended questions</a:t>
            </a:r>
          </a:p>
        </p:txBody>
      </p:sp>
      <p:sp>
        <p:nvSpPr>
          <p:cNvPr id="14" name="Oval 13"/>
          <p:cNvSpPr/>
          <p:nvPr/>
        </p:nvSpPr>
        <p:spPr>
          <a:xfrm>
            <a:off x="969264" y="3575304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1872" y="3465576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you accept variable paths and cost</a:t>
            </a:r>
          </a:p>
        </p:txBody>
      </p:sp>
      <p:sp>
        <p:nvSpPr>
          <p:cNvPr id="16" name="Oval 15"/>
          <p:cNvSpPr/>
          <p:nvPr/>
        </p:nvSpPr>
        <p:spPr>
          <a:xfrm>
            <a:off x="969264" y="4050792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61872" y="3941064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e.g. last week's data analyst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1755648"/>
            <a:ext cx="5208879" cy="2834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1975104"/>
            <a:ext cx="466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 i="0">
                <a:solidFill>
                  <a:srgbClr val="34D399"/>
                </a:solidFill>
                <a:latin typeface="Aptos"/>
              </a:rPr>
              <a:t>You decide  ·  a graph you draw</a:t>
            </a:r>
          </a:p>
        </p:txBody>
      </p:sp>
      <p:sp>
        <p:nvSpPr>
          <p:cNvPr id="20" name="Oval 19"/>
          <p:cNvSpPr/>
          <p:nvPr/>
        </p:nvSpPr>
        <p:spPr>
          <a:xfrm>
            <a:off x="6635343" y="262432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7951" y="2514600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some steps must ALWAYS happen, in order</a:t>
            </a:r>
          </a:p>
        </p:txBody>
      </p:sp>
      <p:sp>
        <p:nvSpPr>
          <p:cNvPr id="22" name="Oval 21"/>
          <p:cNvSpPr/>
          <p:nvPr/>
        </p:nvSpPr>
        <p:spPr>
          <a:xfrm>
            <a:off x="6635343" y="3099816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27951" y="2990088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safety check, a review, an approval</a:t>
            </a:r>
          </a:p>
        </p:txBody>
      </p:sp>
      <p:sp>
        <p:nvSpPr>
          <p:cNvPr id="24" name="Oval 23"/>
          <p:cNvSpPr/>
          <p:nvPr/>
        </p:nvSpPr>
        <p:spPr>
          <a:xfrm>
            <a:off x="6635343" y="3575304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27951" y="3465576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you want to test the path, not just the answer</a:t>
            </a:r>
          </a:p>
        </p:txBody>
      </p:sp>
      <p:sp>
        <p:nvSpPr>
          <p:cNvPr id="26" name="Oval 25"/>
          <p:cNvSpPr/>
          <p:nvPr/>
        </p:nvSpPr>
        <p:spPr>
          <a:xfrm>
            <a:off x="6635343" y="4050792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7951" y="3941064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e.g. today's ticket router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86460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02920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Most real systems mix both: a fixed graph, with a model making the safe choices.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34D399"/>
                </a:solidFill>
                <a:latin typeface="Apto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State, nodes, edges, checkpoints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Notebook Parts 1–6. No new ideas — just the loop, drawn.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THE PARTS · 80 MINUTES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PART 1 · THE SMALLEST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Build, compile, invoke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36576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class TicketState(TypedDict):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text: str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word_count: int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shouting: bool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measure(state):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{"word_count": len(state["text"].split())}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 = StateGraph(TicketState)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b.add_node("measure", measure)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b.add_node("detect_shouting", detect_shouting)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b.add_edge(START, "measure")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b.add_edge("measure", "detect_shouting")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b.add_edge("detect_shouting", END)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graph = b.compile()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21727" y="1709928"/>
            <a:ext cx="3014319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START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28886" y="2130552"/>
            <a:ext cx="0" cy="23774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21727" y="2368296"/>
            <a:ext cx="3014319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measure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28886" y="2788920"/>
            <a:ext cx="0" cy="23774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21727" y="3026664"/>
            <a:ext cx="3014319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detect_shouting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28886" y="3447288"/>
            <a:ext cx="0" cy="23774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21727" y="3685032"/>
            <a:ext cx="3014319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END</a:t>
            </a:r>
          </a:p>
        </p:txBody>
      </p:sp>
      <p:sp>
        <p:nvSpPr>
          <p:cNvPr id="17" name="Oval 16"/>
          <p:cNvSpPr/>
          <p:nvPr/>
        </p:nvSpPr>
        <p:spPr>
          <a:xfrm>
            <a:off x="6324447" y="445312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055" y="4343400"/>
            <a:ext cx="49162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State: a typed dict that flows through.</a:t>
            </a:r>
          </a:p>
        </p:txBody>
      </p:sp>
      <p:sp>
        <p:nvSpPr>
          <p:cNvPr id="19" name="Oval 18"/>
          <p:cNvSpPr/>
          <p:nvPr/>
        </p:nvSpPr>
        <p:spPr>
          <a:xfrm>
            <a:off x="6324447" y="481888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7055" y="4709160"/>
            <a:ext cx="49162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node returns only the keys it changes.</a:t>
            </a:r>
          </a:p>
        </p:txBody>
      </p:sp>
      <p:sp>
        <p:nvSpPr>
          <p:cNvPr id="21" name="Oval 20"/>
          <p:cNvSpPr/>
          <p:nvPr/>
        </p:nvSpPr>
        <p:spPr>
          <a:xfrm>
            <a:off x="6324447" y="518464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7055" y="5074920"/>
            <a:ext cx="49162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No LLM here. A graph is control flow.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PART 2 · REDUCERS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The list that loses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0287" y="603504"/>
            <a:ext cx="1389879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FB7185"/>
                </a:solidFill>
                <a:latin typeface="Aptos"/>
              </a:rPr>
              <a:t>PHOTOGRAPH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18488"/>
            <a:ext cx="5208879" cy="146304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01368"/>
            <a:ext cx="4751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class NoReducer(TypedDict):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log: list[str]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class WithReducer(TypedDict):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log: Annotated[list[str], operator.add]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1618488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LIVE — START WITH ["start"], THEN a, THEN 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920240"/>
            <a:ext cx="5208879" cy="1161288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2191" y="2103120"/>
            <a:ext cx="4751679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9AA3C4"/>
                </a:solidFill>
                <a:latin typeface="Consolas"/>
              </a:rPr>
              <a:t>NoReducer    -&gt; ['b ran']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9AA3C4"/>
                </a:solidFill>
                <a:latin typeface="Consolas"/>
              </a:rPr>
              <a:t>WithReducer  -&gt; ['start', 'a ran', 'b ran']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401568"/>
            <a:ext cx="215017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REDUCER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0878" y="3401568"/>
            <a:ext cx="391368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AN UPDATE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5727" y="3401568"/>
            <a:ext cx="42075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USE FOR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712464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840480"/>
            <a:ext cx="19490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(none)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0878" y="3840480"/>
            <a:ext cx="3712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overwrites the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5727" y="3840480"/>
            <a:ext cx="40064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single value: draft, urgency, 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297680"/>
            <a:ext cx="19490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operator.add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0878" y="4297680"/>
            <a:ext cx="3712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appends to the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5727" y="4297680"/>
            <a:ext cx="40064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log, a path, search results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626864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754880"/>
            <a:ext cx="19490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add_messages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0878" y="4754880"/>
            <a:ext cx="3712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appends, or replaces a message with the same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5727" y="4754880"/>
            <a:ext cx="40064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chat history (MessagesState)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221224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385816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A list that silently loses items is almost always a missing reducer.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PART 3 · CONDITIONAL 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Every loop needs two exits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265176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good_enough(state) -&gt; Literal["write", "__end__"]: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len(state["draft"].split()) &lt;= 12: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return END        # the goal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state["attempts"] &gt;= 3: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return END        # the budget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"write"        # loop back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b.add_conditional_edges("write", good_enough)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98767" y="1847088"/>
            <a:ext cx="1828800" cy="54864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write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(LLM)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41967" y="1847088"/>
            <a:ext cx="1645920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good_enough?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41967" y="3081528"/>
            <a:ext cx="1645920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END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27567" y="2121408"/>
            <a:ext cx="91440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64927" y="2395728"/>
            <a:ext cx="0" cy="68580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56367" y="262432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34D399"/>
                </a:solidFill>
                <a:latin typeface="Aptos"/>
              </a:rPr>
              <a:t>short enough
or 3 tries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16287" y="2395728"/>
            <a:ext cx="0" cy="365760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7513167" y="2761488"/>
            <a:ext cx="2103120" cy="0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513167" y="2395728"/>
            <a:ext cx="0" cy="365760"/>
          </a:xfrm>
          <a:prstGeom prst="line">
            <a:avLst/>
          </a:prstGeom>
          <a:ln w="19050">
            <a:solidFill>
              <a:srgbClr val="FB71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98767" y="280720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B7185"/>
                </a:solidFill>
                <a:latin typeface="Aptos"/>
              </a:rPr>
              <a:t>too long: try again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4447" y="3721608"/>
            <a:ext cx="5208879" cy="54864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2191" y="3904488"/>
            <a:ext cx="47516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attempt 1: 14 words   attempt 2: 9 words  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9028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75488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Aptos"/>
              </a:rPr>
              <a:t>Week 10's max_steps as an edge. Safety net: recursion_limit=25 → GraphRecursionError.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4 · OPENED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create_agent is two nodes and a back-edge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30175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agent(state: MessagesState):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{"messages":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    [model_with_tools.invoke(state["messages"])]}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 = StateGraph(MessagesState)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b.add_node("agent", agent)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b.add_node("tools", ToolNode(tools))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b.add_edge(START, "agent")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b.add_conditional_edges("agent", tools_condition)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b.add_edge("tools", "agent")      # the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98767" y="193852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agent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(model)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16287" y="193852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tools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(ToolNode)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98767" y="3401568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END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6127" y="2121408"/>
            <a:ext cx="1280160" cy="0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336127" y="182880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tool calls?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336127" y="2395728"/>
            <a:ext cx="12801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36127" y="244144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666E94"/>
                </a:solidFill>
                <a:latin typeface="Aptos"/>
              </a:rPr>
              <a:t>results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67447" y="2578608"/>
            <a:ext cx="0" cy="82296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58887" y="285292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34D399"/>
                </a:solidFill>
                <a:latin typeface="Aptos"/>
              </a:rPr>
              <a:t>no tool calls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904488"/>
            <a:ext cx="5208879" cy="7315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4087368"/>
            <a:ext cx="475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ai: ['get_price', 'get_price']   # both at once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tool: Orbit: INR 3999   tool: Echo Bar: INR 1799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64608"/>
            <a:ext cx="10874959" cy="64008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029200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Now you can change it: a checker after tools, a reviewer before END, a human before tools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4.1 · THE TWO DIRECTIONS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An agent can be one node in your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91056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1 · CREATE_AGENT IS ALREADY A 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92808"/>
            <a:ext cx="5208879" cy="150876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75688"/>
            <a:ext cx="47516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prebuilt = create_agent(llm, tools=tools)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type(prebuilt)   # CompiledStateGraph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prebuilt.get_graph().draw_mermaid()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66E94"/>
                </a:solidFill>
                <a:latin typeface="Consolas"/>
              </a:rPr>
              <a:t>#  __start__ --&gt; model ; model -.-&gt; tools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66E94"/>
                </a:solidFill>
                <a:latin typeface="Consolas"/>
              </a:rPr>
              <a:t>#  tools -.-&gt; model   ; model -.-&gt; __end__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93008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666E94"/>
                </a:solidFill>
                <a:latin typeface="Aptos"/>
              </a:rPr>
              <a:t>the same shape you drew by hand — only the node name differs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1591056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2 · AND IT CAN BE A NODE IN YOURS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5887" y="1984248"/>
            <a:ext cx="2103120" cy="73152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ask_agent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(create_agent)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6207" y="1984248"/>
            <a:ext cx="1737360" cy="7315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check_length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(code)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0767" y="2121408"/>
            <a:ext cx="822960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19007" y="2350008"/>
            <a:ext cx="45720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713567" y="2350008"/>
            <a:ext cx="45720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24447" y="2990088"/>
            <a:ext cx="5208879" cy="82296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2191" y="3172968"/>
            <a:ext cx="4751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LIVE: "2 x 1799 = 3598 … total INR 7597"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words: 50   ← check_length ran anyway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31596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48056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Graph outside for what must happen; agent inside for what gets chosen.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PART 5 ·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Every step is saved. Any step can be rewound.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Pulse X1?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176272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tool call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144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94176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INR 2499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56048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12080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answer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73952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729984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And the Orbit?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91856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47888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tool call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09760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765792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answer: Orbit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9984" y="303580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Echo Bar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instead?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65792" y="303580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answer: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Echo Bar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60920" y="2368296"/>
            <a:ext cx="0" cy="667512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991856" y="3319272"/>
            <a:ext cx="1773936" cy="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317296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10 checkpoints for two questions. Pick one, change it, run on: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904488"/>
            <a:ext cx="10874959" cy="9144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087368"/>
            <a:ext cx="104177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fork = graph.update_state(snap.config, {"messages": [HumanMessage("...Echo Bar...", id=old.id)]})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graph.invoke(None, fork)     # None = continue from here.  Same id = replace, not append.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04748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21208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Original: "The Orbit is INR 3999."  Branch: "The Echo Bar is INR 1799."  Both stay in the history.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PART 6 · STREAMING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Three ways to watch it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618488"/>
            <a:ext cx="16555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STREAM_MODE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6236" y="1618488"/>
            <a:ext cx="29817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YOU 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9150" y="1618488"/>
            <a:ext cx="32469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LIVE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7307" y="1618488"/>
            <a:ext cx="21860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USE IT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9384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57400"/>
            <a:ext cx="14543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updates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6236" y="2057400"/>
            <a:ext cx="2780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what each node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9150" y="2057400"/>
            <a:ext cx="304582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['agent'], ['tools'], ['agent']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47307" y="2057400"/>
            <a:ext cx="19848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progress UIs, logs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606040"/>
            <a:ext cx="14543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values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6236" y="2606040"/>
            <a:ext cx="2780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whole state after each step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9150" y="2606040"/>
            <a:ext cx="304582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1, 2, 3, 4 messages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7307" y="2606040"/>
            <a:ext cx="19848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debugging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026664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154680"/>
            <a:ext cx="14543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messages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6236" y="3154680"/>
            <a:ext cx="2780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LLM tokens as they arrive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9150" y="3154680"/>
            <a:ext cx="304582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· price · of · the · Orbit 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7307" y="3154680"/>
            <a:ext cx="19848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chat typing effect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849624"/>
            <a:ext cx="10874959" cy="64008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4014216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Filter "messages" on metadata["langgraph_node"] to stream only the user-facing node.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FB7185"/>
                </a:solidFill>
                <a:latin typeface="Apto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The Nimbus ticket 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Every ticket gets a safety check. No reply goes out without a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PROJECT · 45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7 · THE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Read the picture as a policy document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85292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classify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(LLM + regex)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7168" y="285292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assess_urgency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5564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escalate_safety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85292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escalate_human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395020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search_kb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395020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draft_reply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95020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review_reply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(LLM judge)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02368" y="395020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send_reply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21408" y="3136392"/>
            <a:ext cx="3657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950208" y="2039112"/>
            <a:ext cx="365760" cy="905256"/>
          </a:xfrm>
          <a:prstGeom prst="line">
            <a:avLst/>
          </a:prstGeom>
          <a:ln w="19050">
            <a:solidFill>
              <a:srgbClr val="FB71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3136392"/>
            <a:ext cx="365760" cy="0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950208" y="3328416"/>
            <a:ext cx="365760" cy="905256"/>
          </a:xfrm>
          <a:prstGeom prst="line">
            <a:avLst/>
          </a:prstGeom>
          <a:ln w="19050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79008" y="4233672"/>
            <a:ext cx="3657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07808" y="4233672"/>
            <a:ext cx="3657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436608" y="4233672"/>
            <a:ext cx="365760" cy="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705088" y="4517136"/>
            <a:ext cx="0" cy="301752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876288" y="4818888"/>
            <a:ext cx="1828800" cy="0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876288" y="4517136"/>
            <a:ext cx="0" cy="301752"/>
          </a:xfrm>
          <a:prstGeom prst="line">
            <a:avLst/>
          </a:prstGeom>
          <a:ln w="19050">
            <a:solidFill>
              <a:srgbClr val="FB71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44768" y="486460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B7185"/>
                </a:solidFill>
                <a:latin typeface="Aptos"/>
              </a:rPr>
              <a:t>rejected: redraft (max 2)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5779008" y="3419856"/>
            <a:ext cx="2926080" cy="530352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19088" y="335584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2 rejections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16168" y="299923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F59E0B"/>
                </a:solidFill>
                <a:latin typeface="Aptos"/>
              </a:rPr>
              <a:t>← urgency ≥ 4, or an account issue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16168" y="190195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FB7185"/>
                </a:solidFill>
                <a:latin typeface="Aptos"/>
              </a:rPr>
              <a:t>← regex OR model flagged safety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3675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5321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Three places a ticket can end. No path reaches send_reply without review_reply.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7 · LIVE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Eight tickets, three kinds of ending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527048"/>
            <a:ext cx="34238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TICKET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4522" y="1527048"/>
            <a:ext cx="22910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INTENT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76700" y="1527048"/>
            <a:ext cx="931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URGENCY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9508" y="1527048"/>
            <a:ext cx="34238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OUTCOME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37944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9659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T-3001  Orbit hot, burning smell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4522" y="1965960"/>
            <a:ext cx="20898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700" y="1965960"/>
            <a:ext cx="730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9508" y="19659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ESCALATED to product safety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4231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T-3003  charged twice (premium)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4522" y="2423160"/>
            <a:ext cx="20898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billing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6700" y="2423160"/>
            <a:ext cx="730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9508" y="24231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ESCALATED to a human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2752344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8803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T-3005  Echo Bar in the pool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4522" y="2880360"/>
            <a:ext cx="20898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technical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76700" y="2880360"/>
            <a:ext cx="730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09508" y="28803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ESCALATED to a human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33375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T-3007  can't log 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4522" y="3337560"/>
            <a:ext cx="20898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account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6700" y="3337560"/>
            <a:ext cx="730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508" y="33375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ESCALATED to a human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666744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37947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T-3002 · 3004 · 3006 · 3008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4522" y="3794760"/>
            <a:ext cx="20898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tech · ship · tech · returns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700" y="3794760"/>
            <a:ext cx="730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2–3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09508" y="37947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REPLY SENT, first draft approved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261104"/>
            <a:ext cx="10874959" cy="86868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4443984"/>
            <a:ext cx="104177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for r in results:   # policy tests: assert on the PATH, not just the answer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SAFETY_WORDS.search(text): assert r["outcome"].startswith("ESCALATED to product safety")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r["outcome"] == "REPLY SENT": assert "review_reply" in r["path"]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312664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477256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policy tests passed. The redraft loop never fired today — exercise 3 makes the reviewer stricter.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PART 7 · TIME TRAVEL ON A REAL TICKET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"What if they were premium?"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237744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after_classify = next(s for s in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router.get_state_history(cfg)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if s.next == ("assess_urgency",))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fork = router.update_state(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after_classify.config,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{"customer_tier": "premium",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 "text": text + " third time... NOW."})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router.invoke(None, fork)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1618488"/>
            <a:ext cx="5208879" cy="10515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801368"/>
            <a:ext cx="46602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ORIGINAL  ·  T-3002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093976"/>
            <a:ext cx="466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F2F4FF"/>
                </a:solidFill>
                <a:latin typeface="Aptos"/>
              </a:rPr>
              <a:t>urgency 3  →  REPLY SENT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852928"/>
            <a:ext cx="5208879" cy="10515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3035808"/>
            <a:ext cx="46602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REWOUND, ONE FACT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8767" y="3328416"/>
            <a:ext cx="466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F2F4FF"/>
                </a:solidFill>
                <a:latin typeface="Aptos"/>
              </a:rPr>
              <a:t>urgency 4  →  ESCALATED to a human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31596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48056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Test a routing policy, or debug a bad decision in production, without rerunning everything.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WRAP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What you take forward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184708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737360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State is a typed dict. Nodes return partial updates. Reducers decide how they merge.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2414016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304288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A conditional edge is a router. A back-edge is a loop. Every loop needs a goal and a budget.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2980944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871216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create_agent is agent → tools → agent. You can build it now, and change it.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3547872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438144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Checkpoints give you memory, history and time travel.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4114800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4005072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Draw the graph when the order is policy. Let the model choose only where a choice is safe.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18888"/>
            <a:ext cx="10874959" cy="64008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983480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Next session: a graph that writes code, tests it, fixes its own bugs, and asks you first.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2860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200" b="1" i="0">
                <a:solidFill>
                  <a:srgbClr val="F2F4FF"/>
                </a:solidFill>
                <a:latin typeface="Aptos"/>
              </a:rPr>
              <a:t>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474720"/>
            <a:ext cx="146304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785615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02_langgraph_basics.ipynb — rerun it and try the five exercises.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Exercise 3 is the one to do first: make the review loop fire.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“When is create_agent enough?”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4794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4250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“Does time travel cost API calls?”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1220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“Where do checkpoints live in production?”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138160" y="685800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22208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06256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90304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74352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0" y="685800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42448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26496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38160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22208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06256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0304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74352" y="1069848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0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2448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26496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10544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38160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22208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06256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0304" y="1453896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74352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0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42448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26496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10544" y="1453896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38160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22208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906256" y="1837944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90304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74352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58400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442448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826496" y="1837944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210544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WEEK 13  ·  SESSION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4600" b="1" i="0">
                <a:solidFill>
                  <a:srgbClr val="F2F4FF"/>
                </a:solidFill>
                <a:latin typeface="Aptos"/>
              </a:rPr>
              <a:t>Pause, persist, repair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4600" b="1" i="0">
                <a:solidFill>
                  <a:srgbClr val="9AA3C4"/>
                </a:solidFill>
                <a:latin typeface="Aptos"/>
              </a:rPr>
              <a:t>Humans in the loop, and agents that fix their own work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4590288"/>
            <a:ext cx="146304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901184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interrupt(), durable checkpoints, approve / edit / reject.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Project: a code agent that runs hidden tests and debugs itself.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Two and a half hours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9961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99616"/>
            <a:ext cx="3810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733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ptos"/>
              </a:rPr>
              <a:t>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6550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Three things real systems need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673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59E0B"/>
                </a:solidFill>
                <a:latin typeface="Consolas"/>
              </a:rPr>
              <a:t>10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167335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Pause, persist, repair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13969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139696"/>
            <a:ext cx="3810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134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ptos"/>
              </a:rPr>
              <a:t>0:10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229514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interrupt()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23134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59E0B"/>
                </a:solidFill>
                <a:latin typeface="Consolas"/>
              </a:rPr>
              <a:t>25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31343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pause button, and its one surprise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77977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79776"/>
            <a:ext cx="38100" cy="5669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2953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A78BFA"/>
                </a:solidFill>
                <a:latin typeface="Aptos"/>
              </a:rPr>
              <a:t>0:35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5648" y="293522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Approve · edit · reject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9535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A78BFA"/>
                </a:solidFill>
                <a:latin typeface="Consolas"/>
              </a:rPr>
              <a:t>25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295351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HumanInTheLoopMiddleware, by hand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41985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3419856"/>
            <a:ext cx="38100" cy="5669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359359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22D3EE"/>
                </a:solidFill>
                <a:latin typeface="Aptos"/>
              </a:rPr>
              <a:t>1:00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5648" y="357530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Persistence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0368" y="35935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22D3EE"/>
                </a:solidFill>
                <a:latin typeface="Consolas"/>
              </a:rPr>
              <a:t>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6208" y="359359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pause that survives a restart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05993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4059936"/>
            <a:ext cx="38100" cy="566928"/>
          </a:xfrm>
          <a:prstGeom prst="rect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23367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666E94"/>
                </a:solidFill>
                <a:latin typeface="Aptos"/>
              </a:rPr>
              <a:t>1:20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5648" y="421538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Break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0368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66E94"/>
                </a:solidFill>
                <a:latin typeface="Consolas"/>
              </a:rPr>
              <a:t>15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423367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70001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700016"/>
            <a:ext cx="38100" cy="56692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" y="48737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B7185"/>
                </a:solidFill>
                <a:latin typeface="Aptos"/>
              </a:rPr>
              <a:t>1:35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5648" y="48554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Project: code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0368" y="48737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B7185"/>
                </a:solidFill>
                <a:latin typeface="Consolas"/>
              </a:rPr>
              <a:t>45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487375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Plan review, hidden tests, debug loop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34009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5340096"/>
            <a:ext cx="38100" cy="5669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6112" y="55138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ptos"/>
              </a:rPr>
              <a:t>2:20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55648" y="549554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Wrap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30368" y="55138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34D399"/>
                </a:solidFill>
                <a:latin typeface="Consolas"/>
              </a:rPr>
              <a:t>10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551383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Where the human is cheapest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WHY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Three things a real agent 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09928"/>
            <a:ext cx="3442106" cy="30175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3852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ptos"/>
              </a:rPr>
              <a:t>Pause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532888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2F4FF"/>
                </a:solidFill>
                <a:latin typeface="Aptos"/>
              </a:rPr>
              <a:t>stop mid-run, show a human something, continue with their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47287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59E0B"/>
                </a:solidFill>
                <a:latin typeface="Aptos"/>
              </a:rPr>
              <a:t>interrupt()  +  Command(resume=…)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04164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666E94"/>
                </a:solidFill>
                <a:latin typeface="Aptos"/>
              </a:rPr>
              <a:t>W10 input() · W11 RunState · W12 middleware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709928"/>
            <a:ext cx="3442106" cy="30175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9114" y="193852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 i="0">
                <a:solidFill>
                  <a:srgbClr val="22D3EE"/>
                </a:solidFill>
                <a:latin typeface="Aptos"/>
              </a:rPr>
              <a:t>Persist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9114" y="2532888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2F4FF"/>
                </a:solidFill>
                <a:latin typeface="Aptos"/>
              </a:rPr>
              <a:t>the pause survives a restart, a deploy, a weekend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9114" y="3447287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22D3EE"/>
                </a:solidFill>
                <a:latin typeface="Aptos"/>
              </a:rPr>
              <a:t>a durable checkpointer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9114" y="404164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666E94"/>
                </a:solidFill>
                <a:latin typeface="Aptos"/>
              </a:rPr>
              <a:t>W12 InMemorySaver — lost on restart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1220" y="1709928"/>
            <a:ext cx="3442106" cy="30175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5540" y="193852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 i="0">
                <a:solidFill>
                  <a:srgbClr val="FB7185"/>
                </a:solidFill>
                <a:latin typeface="Aptos"/>
              </a:rPr>
              <a:t>Repair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5540" y="2532888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2F4FF"/>
                </a:solidFill>
                <a:latin typeface="Aptos"/>
              </a:rPr>
              <a:t>check the work against something real, and try again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5540" y="3447287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B7185"/>
                </a:solidFill>
                <a:latin typeface="Aptos"/>
              </a:rPr>
              <a:t>a back-edge with a 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5540" y="404164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666E94"/>
                </a:solidFill>
                <a:latin typeface="Aptos"/>
              </a:rPr>
              <a:t>W10 LLM-as-judge — now it's a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00176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16636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You've used all three through a framework. Today you build the mechanism.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F59E0B"/>
                </a:solidFill>
                <a:latin typeface="Apto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interrupt() and approvals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Notebook Parts 1 and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PAUSE · 50 MINUTES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PART 1 · THE PAUSE BUTTON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Park the run now. Resume it later.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30175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manager_approval(r):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answer = interrupt({"question": "Approve?",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                "amount_inr": r["amount_inr"]})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{"decision": answer}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 = b.compile(checkpointer=InMemorySaver())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out = g.invoke({...}, cfg)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out["__interrupt__"][0].value   # the payload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66E94"/>
                </a:solidFill>
                <a:latin typeface="Consolas"/>
              </a:rPr>
              <a:t># minutes or days later: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g.invoke(Command(resume="yes"), cfg)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1618488"/>
            <a:ext cx="1589989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F2F4FF"/>
                </a:solidFill>
                <a:latin typeface="Aptos"/>
              </a:rPr>
              <a:t>your code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19441" y="2075688"/>
            <a:ext cx="0" cy="2560320"/>
          </a:xfrm>
          <a:prstGeom prst="line">
            <a:avLst/>
          </a:prstGeom>
          <a:ln w="12700">
            <a:solidFill>
              <a:srgbClr val="2A306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3892" y="1618488"/>
            <a:ext cx="1589989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F2F4FF"/>
                </a:solidFill>
                <a:latin typeface="Aptos"/>
              </a:rPr>
              <a:t>graph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28886" y="2075688"/>
            <a:ext cx="0" cy="2560320"/>
          </a:xfrm>
          <a:prstGeom prst="line">
            <a:avLst/>
          </a:prstGeom>
          <a:ln w="12700">
            <a:solidFill>
              <a:srgbClr val="2A306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43337" y="1618488"/>
            <a:ext cx="1589989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F2F4FF"/>
                </a:solidFill>
                <a:latin typeface="Aptos"/>
              </a:rPr>
              <a:t>human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38331" y="2075688"/>
            <a:ext cx="0" cy="2560320"/>
          </a:xfrm>
          <a:prstGeom prst="line">
            <a:avLst/>
          </a:prstGeom>
          <a:ln w="12700">
            <a:solidFill>
              <a:srgbClr val="2A306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119441" y="2496312"/>
            <a:ext cx="1809445" cy="0"/>
          </a:xfrm>
          <a:prstGeom prst="line">
            <a:avLst/>
          </a:prstGeom>
          <a:ln w="158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52563" y="222199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9AA3C4"/>
                </a:solidFill>
                <a:latin typeface="Aptos"/>
              </a:rPr>
              <a:t>1. invoke(ticket)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19441" y="2880360"/>
            <a:ext cx="1809445" cy="0"/>
          </a:xfrm>
          <a:prstGeom prst="line">
            <a:avLst/>
          </a:prstGeom>
          <a:ln w="15875">
            <a:solidFill>
              <a:srgbClr val="666E94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652563" y="2606040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666E94"/>
                </a:solidFill>
                <a:latin typeface="Aptos"/>
              </a:rPr>
              <a:t>2. __interrupt__: payload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19441" y="3264408"/>
            <a:ext cx="3618890" cy="0"/>
          </a:xfrm>
          <a:prstGeom prst="line">
            <a:avLst/>
          </a:prstGeom>
          <a:ln w="158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557286" y="299008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9AA3C4"/>
                </a:solidFill>
                <a:latin typeface="Aptos"/>
              </a:rPr>
              <a:t>3. show it (cell, Slack, web)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119441" y="3648456"/>
            <a:ext cx="3618890" cy="0"/>
          </a:xfrm>
          <a:prstGeom prst="line">
            <a:avLst/>
          </a:prstGeom>
          <a:ln w="15875">
            <a:solidFill>
              <a:srgbClr val="666E94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557286" y="337413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666E94"/>
                </a:solidFill>
                <a:latin typeface="Aptos"/>
              </a:rPr>
              <a:t>4. "yes"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9441" y="4032504"/>
            <a:ext cx="1809445" cy="0"/>
          </a:xfrm>
          <a:prstGeom prst="line">
            <a:avLst/>
          </a:prstGeom>
          <a:ln w="158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652563" y="37581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9AA3C4"/>
                </a:solidFill>
                <a:latin typeface="Aptos"/>
              </a:rPr>
              <a:t>5. invoke(Command(resume="yes"))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119441" y="4416552"/>
            <a:ext cx="1809445" cy="0"/>
          </a:xfrm>
          <a:prstGeom prst="line">
            <a:avLst/>
          </a:prstGeom>
          <a:ln w="15875">
            <a:solidFill>
              <a:srgbClr val="666E94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652563" y="414223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666E94"/>
                </a:solidFill>
                <a:latin typeface="Aptos"/>
              </a:rPr>
              <a:t>6. log: … PAID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9103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0749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Nothing blocks while it waits: no thread, no hanging input(). The state is in the checkpointer.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1 · THE ONE SURPRISE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Resume reruns the node from the 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0287" y="603504"/>
            <a:ext cx="1389879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FB7185"/>
                </a:solidFill>
                <a:latin typeface="Aptos"/>
              </a:rPr>
              <a:t>PHOTOGRAPH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18488"/>
            <a:ext cx="5208879" cy="201168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01368"/>
            <a:ext cx="475167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def careless_approval(r):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EMAILS_SENT.append("emailed manager")   # before!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answer = interrupt({...})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return {"decision": answer}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1618488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LIVE — AFTER ONE APPROVAL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920240"/>
            <a:ext cx="5208879" cy="1709928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2191" y="2103120"/>
            <a:ext cx="4751679" cy="1344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9AA3C4"/>
                </a:solidFill>
                <a:latin typeface="Consolas"/>
              </a:rPr>
              <a:t>['emailed manager about N104455',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9AA3C4"/>
                </a:solidFill>
                <a:latin typeface="Consolas"/>
              </a:rPr>
              <a:t> 'emailed manager about N104455']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" y="404164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31920"/>
            <a:ext cx="1058235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First run: the node runs up to interrupt() and stops.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445312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4343400"/>
            <a:ext cx="1058235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Resume: the node runs from its first line again. This time interrupt() returns the answer.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9103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0749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Side effects go after interrupt(), or in their own node. Before it: only code that is safe to repeat.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2 · APPROVE · EDIT · REJECT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 human gate in front of the risky 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487168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75564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human_gate  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321868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tools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395728" y="2039112"/>
            <a:ext cx="914400" cy="585216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64208" y="193852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issue_refund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95728" y="2916936"/>
            <a:ext cx="914400" cy="585216"/>
          </a:xfrm>
          <a:prstGeom prst="line">
            <a:avLst/>
          </a:prstGeom>
          <a:ln w="19050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64208" y="349300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22D3EE"/>
                </a:solidFill>
                <a:latin typeface="Aptos"/>
              </a:rPr>
              <a:t>lookup_order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78808" y="2322576"/>
            <a:ext cx="0" cy="896112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70248" y="26243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34D399"/>
                </a:solidFill>
                <a:latin typeface="Aptos"/>
              </a:rPr>
              <a:t>approve / edit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1618488"/>
            <a:ext cx="1536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56" y="1618488"/>
            <a:ext cx="10017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4982" y="1618488"/>
            <a:ext cx="113541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31567" y="1618488"/>
            <a:ext cx="10017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53328" y="1929384"/>
            <a:ext cx="5479999" cy="5029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2057400"/>
            <a:ext cx="1335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 · duplicate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2056" y="205740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INR 4999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4982" y="2057400"/>
            <a:ext cx="93424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31567" y="205740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INR 4999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2560320"/>
            <a:ext cx="1335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B · scratch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2056" y="256032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INR 3999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982" y="2560320"/>
            <a:ext cx="93424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edit → 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31567" y="256032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INR 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2935224"/>
            <a:ext cx="5479999" cy="5029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063240"/>
            <a:ext cx="1335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C · day 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2056" y="306324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INR 2499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4982" y="3063240"/>
            <a:ext cx="93424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reject + reason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31567" y="306324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nothing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53328" y="3621024"/>
            <a:ext cx="5479999" cy="82296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3803904"/>
            <a:ext cx="50227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 i="0">
                <a:solidFill>
                  <a:srgbClr val="9AA3C4"/>
                </a:solidFill>
                <a:latin typeface="Consolas"/>
              </a:rPr>
              <a:t>C → "…cannot be approved as it is outside the 7-day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 i="0">
                <a:solidFill>
                  <a:srgbClr val="9AA3C4"/>
                </a:solidFill>
                <a:latin typeface="Consolas"/>
              </a:rPr>
              <a:t>     return window. …repair or replacement under warranty."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9103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0749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The ledger is the proof: the risky tool ran only after a yes, with the human's arguments.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2 · COMMAND(GOTO, UPDATE)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The gate is fifteen 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27048"/>
            <a:ext cx="10874959" cy="34290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09928"/>
            <a:ext cx="10417759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human_gate(state) -&gt; Command[Literal["tools", "agent"]]: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last = state["messages"][-1]; call = last.tool_calls[0]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decision = interrupt({"tool": call["name"], "args": call["args"]})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decision["type"] == "approve":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return Command(goto="tools")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decision["type"] == "edit":        # same id -&gt; add_messages REPLACES the call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edited = AIMessage(content=last.content, id=last.id,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                   tool_calls=[{**call, "args": decision["args"]}])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return Command(goto="tools", update={"messages": [edited]})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refusal = ToolMessage(f"A human reviewer REJECTED this refund: {decision['message']}",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                  tool_call_id=call["id"])       # the model hears why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Command(goto="agent", update={"messages": [refusal]})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1389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3035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Command = choose the next node and update state, in one return.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PART 3 · PERSISTENCE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 pause that survives a restart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30175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conn = sqlite3.connect("support_checkpoints.db")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 = build_support(SqliteSaver(conn))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turn(g, "D", "charged twice, refund please")  # 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conn.close(); del g       # "restart"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conn = sqlite3.connect("support_checkpoints.db")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 = build_support(SqliteSaver(conn))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g.get_state(cfg).next     # ('human_gate',)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turn(g, "D", resume={"type": "approve"})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5615" y="1618488"/>
            <a:ext cx="16471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CHECKPOINTER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3926" y="1618488"/>
            <a:ext cx="131108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LIVES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86181" y="1618488"/>
            <a:ext cx="16471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USE FOR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929384"/>
            <a:ext cx="520887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5615" y="2057400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InMemorySaver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3926" y="2057400"/>
            <a:ext cx="11099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this 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86181" y="2057400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notebooks,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5615" y="2532888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SqliteSaver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926" y="2532888"/>
            <a:ext cx="11099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6181" y="2532888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one machine, demos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4447" y="2880360"/>
            <a:ext cx="520887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5615" y="3008376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PostgresSaver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3926" y="3008376"/>
            <a:ext cx="11099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6181" y="3008376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production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3584448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LIVE — AFTER THE "RESTART"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4447" y="3858768"/>
            <a:ext cx="5208879" cy="6858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2191" y="4041648"/>
            <a:ext cx="47516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thread D: waiting at ('human_gate',)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💬 I have processed a refund of INR 4999…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103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749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Aptos"/>
              </a:rPr>
              <a:t>Same interface, different storage. The thread_id becomes your ticket or job id.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FB7185"/>
                </a:solidFill>
                <a:latin typeface="Apto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A code agent that repairs itself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The model doesn't decide it's done. The tests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PROJECT · 45 MINUTES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4 · THE TASK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 real ticket is vague. The tests are the spec.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30175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NIM-482: add delivery_window(city,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ordered_at, express=False)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Metros 1-3 days, north-east 7-10,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everywhere else 3-5.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Business days only - no Sundays or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warehouse holidays (2026-10-02, 2026-11-09).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Orders after 6 pm go out the next day.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Express halves the time; metros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1618488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WHAT THE TICKET DOESN'T SAY</a:t>
            </a:r>
          </a:p>
        </p:txBody>
      </p:sp>
      <p:sp>
        <p:nvSpPr>
          <p:cNvPr id="11" name="Oval 10"/>
          <p:cNvSpPr/>
          <p:nvPr/>
        </p:nvSpPr>
        <p:spPr>
          <a:xfrm>
            <a:off x="6324447" y="207568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7055" y="1965960"/>
            <a:ext cx="4916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Is 18:00 "after 6 pm"?</a:t>
            </a:r>
          </a:p>
        </p:txBody>
      </p:sp>
      <p:sp>
        <p:nvSpPr>
          <p:cNvPr id="13" name="Oval 12"/>
          <p:cNvSpPr/>
          <p:nvPr/>
        </p:nvSpPr>
        <p:spPr>
          <a:xfrm>
            <a:off x="6324447" y="253288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7055" y="2423160"/>
            <a:ext cx="4916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Does "1 day" mean tomorrow?</a:t>
            </a:r>
          </a:p>
        </p:txBody>
      </p:sp>
      <p:sp>
        <p:nvSpPr>
          <p:cNvPr id="15" name="Oval 14"/>
          <p:cNvSpPr/>
          <p:nvPr/>
        </p:nvSpPr>
        <p:spPr>
          <a:xfrm>
            <a:off x="6324447" y="299008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7055" y="2880360"/>
            <a:ext cx="4916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Half of 3 days: round up or down?</a:t>
            </a:r>
          </a:p>
        </p:txBody>
      </p:sp>
      <p:sp>
        <p:nvSpPr>
          <p:cNvPr id="17" name="Oval 16"/>
          <p:cNvSpPr/>
          <p:nvPr/>
        </p:nvSpPr>
        <p:spPr>
          <a:xfrm>
            <a:off x="6324447" y="344728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055" y="3337560"/>
            <a:ext cx="4916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Express to Pune: error, or ignore it?</a:t>
            </a:r>
          </a:p>
        </p:txBody>
      </p:sp>
      <p:sp>
        <p:nvSpPr>
          <p:cNvPr id="19" name="Oval 18"/>
          <p:cNvSpPr/>
          <p:nvPr/>
        </p:nvSpPr>
        <p:spPr>
          <a:xfrm>
            <a:off x="6324447" y="390448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7055" y="3794760"/>
            <a:ext cx="4916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Saturday night + Sunday + a holiday Monday?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9103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0749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13 hidden QA tests settle every question. The agent sees only which calls failed, like CI output.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4 · THE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Two pauses, two bounded loops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0992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make_plan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75688" y="1993392"/>
            <a:ext cx="3657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41448" y="170992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review_plan 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58768" y="1993392"/>
            <a:ext cx="3657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24528" y="170992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write_code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41848" y="1993392"/>
            <a:ext cx="3657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07608" y="170992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check_code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(AST)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24928" y="1993392"/>
            <a:ext cx="3657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90688" y="170992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run_tests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(hidden)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08008" y="1993392"/>
            <a:ext cx="365760" cy="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573768" y="170992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1453896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34D399"/>
                </a:solidFill>
                <a:latin typeface="Aptos"/>
              </a:rPr>
              <a:t>all pass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3150108" y="1435608"/>
            <a:ext cx="0" cy="27432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367028" y="1435608"/>
            <a:ext cx="178308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67028" y="1435608"/>
            <a:ext cx="0" cy="274320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4128" y="120700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sent 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7608" y="308152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debug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90688" y="427024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ask_human 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73768" y="427024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give_up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7424928" y="2276856"/>
            <a:ext cx="1074420" cy="1088136"/>
          </a:xfrm>
          <a:prstGeom prst="line">
            <a:avLst/>
          </a:prstGeom>
          <a:ln w="19050">
            <a:solidFill>
              <a:srgbClr val="FB71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545068" y="244144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B7185"/>
                </a:solidFill>
                <a:latin typeface="Aptos"/>
              </a:rPr>
              <a:t>fail, attempts &lt; 3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6716268" y="2276856"/>
            <a:ext cx="0" cy="804672"/>
          </a:xfrm>
          <a:prstGeom prst="line">
            <a:avLst/>
          </a:prstGeom>
          <a:ln w="19050">
            <a:solidFill>
              <a:srgbClr val="FB71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933688" y="2276856"/>
            <a:ext cx="0" cy="1993392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025128" y="363016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budget spent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6716268" y="3648456"/>
            <a:ext cx="1074420" cy="905256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24528" y="431596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hint → +2 attempts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08008" y="4553712"/>
            <a:ext cx="365760" cy="0"/>
          </a:xfrm>
          <a:prstGeom prst="line">
            <a:avLst/>
          </a:prstGeom>
          <a:ln w="19050">
            <a:solidFill>
              <a:srgbClr val="666E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73768" y="4882896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666E94"/>
                </a:solidFill>
                <a:latin typeface="Aptos"/>
              </a:rPr>
              <a:t>hints spent</a:t>
            </a:r>
          </a:p>
        </p:txBody>
      </p:sp>
      <p:sp>
        <p:nvSpPr>
          <p:cNvPr id="36" name="Oval 35"/>
          <p:cNvSpPr/>
          <p:nvPr/>
        </p:nvSpPr>
        <p:spPr>
          <a:xfrm>
            <a:off x="658368" y="321868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76" y="3108960"/>
            <a:ext cx="3364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violet = model, the rest is code</a:t>
            </a:r>
          </a:p>
        </p:txBody>
      </p:sp>
      <p:sp>
        <p:nvSpPr>
          <p:cNvPr id="38" name="Oval 37"/>
          <p:cNvSpPr/>
          <p:nvPr/>
        </p:nvSpPr>
        <p:spPr>
          <a:xfrm>
            <a:off x="658368" y="3602736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0976" y="3493008"/>
            <a:ext cx="3364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unsafe code never reaches run_tests</a:t>
            </a:r>
          </a:p>
        </p:txBody>
      </p:sp>
      <p:sp>
        <p:nvSpPr>
          <p:cNvPr id="40" name="Oval 39"/>
          <p:cNvSpPr/>
          <p:nvPr/>
        </p:nvSpPr>
        <p:spPr>
          <a:xfrm>
            <a:off x="658368" y="3986784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0976" y="3877056"/>
            <a:ext cx="3364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human has a budget too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4 · THE RISKIEST CELL IN THE COURSE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Running code a model wrote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09928"/>
            <a:ext cx="3442106" cy="21945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9280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F59E0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87168"/>
            <a:ext cx="289346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Human approves the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98648"/>
            <a:ext cx="289346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before any code exists — the cheapest place to catch a misunderstanding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4794" y="1709928"/>
            <a:ext cx="3442106" cy="21945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9114" y="189280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22D3EE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9114" y="2487168"/>
            <a:ext cx="289346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Static check (ast)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9114" y="2898648"/>
            <a:ext cx="289346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imports only from an allow-list; no open, exec, eval, __import__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1220" y="1709928"/>
            <a:ext cx="3442106" cy="21945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5540" y="189280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34D39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5540" y="2487168"/>
            <a:ext cx="289346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Separate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5540" y="2898648"/>
            <a:ext cx="289346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throwaway folder, python -I, killed after 10 seconds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245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3891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This is NOT a sandbox. In production: a container or hosted sandbox, no network, no secrets.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956048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1">
                <a:solidFill>
                  <a:srgbClr val="666E94"/>
                </a:solidFill>
                <a:latin typeface="Aptos"/>
              </a:rPr>
              <a:t>The graph doesn't change — only run_hidden_tests does.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4 · LIVE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The tests decide when it's 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9AA3C4"/>
                </a:solidFill>
                <a:latin typeface="Aptos"/>
              </a:rPr>
              <a:t>run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1755648"/>
            <a:ext cx="6583680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64208" y="1755648"/>
            <a:ext cx="5064369" cy="420624"/>
          </a:xfrm>
          <a:prstGeom prst="roundRect">
            <a:avLst>
              <a:gd name="adj" fmla="val 8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0768" y="184708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B7185"/>
                </a:solidFill>
                <a:latin typeface="Aptos"/>
              </a:rPr>
              <a:t>10/13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3288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9AA3C4"/>
                </a:solidFill>
                <a:latin typeface="Aptos"/>
              </a:rPr>
              <a:t>run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8" y="2441448"/>
            <a:ext cx="6583680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64208" y="2441448"/>
            <a:ext cx="6077243" cy="420624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253288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ptos"/>
              </a:rPr>
              <a:t>12/13 passed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1868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9AA3C4"/>
                </a:solidFill>
                <a:latin typeface="Aptos"/>
              </a:rPr>
              <a:t>run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64208" y="3127248"/>
            <a:ext cx="6583680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64208" y="3127248"/>
            <a:ext cx="6583680" cy="420624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321868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ptos"/>
              </a:rPr>
              <a:t>13/13 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2368" y="184708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666E94"/>
                </a:solidFill>
                <a:latin typeface="Aptos"/>
              </a:rPr>
              <a:t>write_code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8" y="253288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666E94"/>
                </a:solidFill>
                <a:latin typeface="Aptos"/>
              </a:rPr>
              <a:t>↳ debug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321868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666E94"/>
                </a:solidFill>
                <a:latin typeface="Aptos"/>
              </a:rPr>
              <a:t>↳ debug → ship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995928"/>
            <a:ext cx="5208879" cy="11430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215384"/>
            <a:ext cx="38100" cy="165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" y="4189984"/>
            <a:ext cx="4651095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Aptos"/>
              </a:rPr>
              <a:t>SAVED RUN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Plan approved as-is. Failed 3 tests, then 1, then none. No human needed.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4447" y="3995928"/>
            <a:ext cx="5208879" cy="11430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43903" y="4215384"/>
            <a:ext cx="38100" cy="165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2775" y="4189984"/>
            <a:ext cx="4651095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Aptos"/>
              </a:rPr>
              <a:t>REHEARSALS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Every first attempt failed. About half the runs got stuck and asked for a hint.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4 · WHAT THE TESTS CAN'T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13/13 tests pass. Would you merge 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0287" y="603504"/>
            <a:ext cx="1389879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FB7185"/>
                </a:solidFill>
                <a:latin typeface="Aptos"/>
              </a:rPr>
              <a:t>PHOTOGRAPH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18488"/>
            <a:ext cx="5208879" cy="30175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01368"/>
            <a:ext cx="475167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delivery_window(city, ordered_at, ...):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...  # 60 lines, the first attempt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66E94"/>
                </a:solidFill>
                <a:latin typeface="Consolas"/>
              </a:rPr>
              <a:t>    # Fix: For orders placed exactly at 18:00...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66E94"/>
                </a:solidFill>
                <a:latin typeface="Consolas"/>
              </a:rPr>
              <a:t>    # But we already parsed dt and set start_date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66E94"/>
                </a:solidFill>
                <a:latin typeface="Consolas"/>
              </a:rPr>
              <a:t>    # Actually, we can fix by changing the cutoff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66E94"/>
                </a:solidFill>
                <a:latin typeface="Consolas"/>
              </a:rPr>
              <a:t>    # Actually, let's do it once at the start: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delivery_window(city, ordered_at, ...):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...  # the real one silently replaces it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dt.hour &gt; 18 or (dt.hour == 18 and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dt.minute &gt; 0) or (dt.hour == 18 and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dt.minute == 0):</a:t>
            </a:r>
          </a:p>
        </p:txBody>
      </p:sp>
      <p:sp>
        <p:nvSpPr>
          <p:cNvPr id="11" name="Oval 10"/>
          <p:cNvSpPr/>
          <p:nvPr/>
        </p:nvSpPr>
        <p:spPr>
          <a:xfrm>
            <a:off x="6324447" y="184708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7055" y="1737360"/>
            <a:ext cx="491627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shipped module in the saved run: 142 lines, two definitions of the same function.</a:t>
            </a:r>
          </a:p>
        </p:txBody>
      </p:sp>
      <p:sp>
        <p:nvSpPr>
          <p:cNvPr id="13" name="Oval 12"/>
          <p:cNvSpPr/>
          <p:nvPr/>
        </p:nvSpPr>
        <p:spPr>
          <a:xfrm>
            <a:off x="6324447" y="2505456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7055" y="2395728"/>
            <a:ext cx="491627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Python allows it. The tests can't see it. A reviewer rejects it in seconds.</a:t>
            </a:r>
          </a:p>
        </p:txBody>
      </p:sp>
      <p:sp>
        <p:nvSpPr>
          <p:cNvPr id="15" name="Oval 14"/>
          <p:cNvSpPr/>
          <p:nvPr/>
        </p:nvSpPr>
        <p:spPr>
          <a:xfrm>
            <a:off x="6324447" y="3163824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7055" y="3054096"/>
            <a:ext cx="491627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Tests say it's correct. They don't say it's mergeable.</a:t>
            </a:r>
          </a:p>
        </p:txBody>
      </p:sp>
      <p:sp>
        <p:nvSpPr>
          <p:cNvPr id="17" name="Oval 16"/>
          <p:cNvSpPr/>
          <p:nvPr/>
        </p:nvSpPr>
        <p:spPr>
          <a:xfrm>
            <a:off x="6324447" y="3822192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055" y="3712464"/>
            <a:ext cx="491627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Fix: one more gate before ship — a static rule, an LLM reviewer, or a person (exercise 6).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103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50749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An agent optimises for whatever check you give it. Give it the checks you actually care about.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WRAP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What you take forward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180136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691640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interrupt() pauses a node; Command(resume=…) continues it. The node reruns from the top.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2368296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258568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Approve / edit / reject is ~15 lines: Command(goto, update) plus replace-by-id.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2935224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825496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A durable checkpointer turns a pause into something that survives restarts.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3502152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392424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A repair loop needs a real check, a budget, and an escalation path — which has a budget too.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4069080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3959352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Put the human where they're cheapest: seconds on a plan beat an hour on bad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1888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98348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Next session: more than one agent — a supervisor, a team, and work fanned out in parallel.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2860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200" b="1" i="0">
                <a:solidFill>
                  <a:srgbClr val="F2F4FF"/>
                </a:solidFill>
                <a:latin typeface="Aptos"/>
              </a:rPr>
              <a:t>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474720"/>
            <a:ext cx="146304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785615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03_human_in_the_loop.ipynb — rerun it; your run will take a different path.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Exercise 1 first: review the plan properly and count the test runs you save.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“How do I show interrupts in a web app?”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4794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4250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“Can the agent write the tests too?”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1220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“What sandbox should I use in production?”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138160" y="685800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22208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06256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90304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74352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0" y="685800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42448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26496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38160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22208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06256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0304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74352" y="1069848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0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2448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26496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10544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38160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22208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06256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0304" y="1453896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74352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0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42448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26496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10544" y="1453896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38160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22208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906256" y="1837944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90304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74352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58400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442448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826496" y="1837944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210544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WEEK 13  ·  SESSION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4600" b="1" i="0">
                <a:solidFill>
                  <a:srgbClr val="F2F4FF"/>
                </a:solidFill>
                <a:latin typeface="Aptos"/>
              </a:rPr>
              <a:t>Teams of agents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4600" b="1" i="0">
                <a:solidFill>
                  <a:srgbClr val="9AA3C4"/>
                </a:solidFill>
                <a:latin typeface="Aptos"/>
              </a:rPr>
              <a:t>Fan out, nest, supervise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4590288"/>
            <a:ext cx="1463040" cy="381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901184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Send, subgraphs and a supervisor.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Project: a blog team — parallel writers, a fact-checker each, a human signs it off.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Two and a half hours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9961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99616"/>
            <a:ext cx="38100" cy="5669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733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A78BFA"/>
                </a:solidFill>
                <a:latin typeface="Aptos"/>
              </a:rPr>
              <a:t>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6550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Why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673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A78BFA"/>
                </a:solidFill>
                <a:latin typeface="Consolas"/>
              </a:rPr>
              <a:t>10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167335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Three building blocks, one decision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13969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139696"/>
            <a:ext cx="38100" cy="5669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134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22D3EE"/>
                </a:solidFill>
                <a:latin typeface="Aptos"/>
              </a:rPr>
              <a:t>0:10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229514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Send: fan out, gather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23134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22D3EE"/>
                </a:solidFill>
                <a:latin typeface="Consolas"/>
              </a:rPr>
              <a:t>25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31343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N parallel copies, decided at run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77977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79776"/>
            <a:ext cx="38100" cy="5669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2953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ptos"/>
              </a:rPr>
              <a:t>0:35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5648" y="293522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Subgraphs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9535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34D399"/>
                </a:solidFill>
                <a:latin typeface="Consolas"/>
              </a:rPr>
              <a:t>20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295351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tested unit: research → write → fact-check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41985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3419856"/>
            <a:ext cx="38100" cy="5669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359359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A78BFA"/>
                </a:solidFill>
                <a:latin typeface="Aptos"/>
              </a:rPr>
              <a:t>0:55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5648" y="357530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A supervisor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0368" y="35935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A78BFA"/>
                </a:solidFill>
                <a:latin typeface="Consolas"/>
              </a:rPr>
              <a:t>25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6208" y="359359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model that routes between specialists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05993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4059936"/>
            <a:ext cx="38100" cy="566928"/>
          </a:xfrm>
          <a:prstGeom prst="rect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23367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666E94"/>
                </a:solidFill>
                <a:latin typeface="Aptos"/>
              </a:rPr>
              <a:t>1:20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5648" y="421538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Break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0368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66E94"/>
                </a:solidFill>
                <a:latin typeface="Consolas"/>
              </a:rPr>
              <a:t>15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423367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70001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700016"/>
            <a:ext cx="38100" cy="56692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" y="48737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B7185"/>
                </a:solidFill>
                <a:latin typeface="Aptos"/>
              </a:rPr>
              <a:t>1:35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5648" y="48554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Project: the blog team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0368" y="48737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B7185"/>
                </a:solidFill>
                <a:latin typeface="Consolas"/>
              </a:rPr>
              <a:t>45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487375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Outline ⏸ · parallel sections · sign-off 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34009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5340096"/>
            <a:ext cx="3810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6112" y="55138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ptos"/>
              </a:rPr>
              <a:t>2:20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55648" y="549554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Wrap: weeks 10–13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30368" y="55138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59E0B"/>
                </a:solidFill>
                <a:latin typeface="Consolas"/>
              </a:rPr>
              <a:t>10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551383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same loop, four ways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WHY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Three ways to split the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09928"/>
            <a:ext cx="3442106" cy="26060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20240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200" b="1" i="0">
                <a:solidFill>
                  <a:srgbClr val="22D3EE"/>
                </a:solidFill>
                <a:latin typeface="Aptos"/>
              </a:rPr>
              <a:t>Send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87168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2F4FF"/>
                </a:solidFill>
                <a:latin typeface="Aptos"/>
              </a:rPr>
              <a:t>one step fans out into N parallel copies; a reducer gathers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55848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1">
                <a:solidFill>
                  <a:srgbClr val="666E94"/>
                </a:solidFill>
                <a:latin typeface="Aptos"/>
              </a:rPr>
              <a:t>the same job, many times: grade 50 reviews, write 4 sections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4794" y="1709928"/>
            <a:ext cx="3442106" cy="26060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9114" y="1920240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200" b="1" i="0">
                <a:solidFill>
                  <a:srgbClr val="34D399"/>
                </a:solidFill>
                <a:latin typeface="Aptos"/>
              </a:rPr>
              <a:t>Subgraph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9114" y="2487168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2F4FF"/>
                </a:solidFill>
                <a:latin typeface="Aptos"/>
              </a:rPr>
              <a:t>a whole compiled graph used as one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9114" y="3355848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1">
                <a:solidFill>
                  <a:srgbClr val="666E94"/>
                </a:solidFill>
                <a:latin typeface="Aptos"/>
              </a:rPr>
              <a:t>a reusable, testable unit: research → write → fact-check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1220" y="1709928"/>
            <a:ext cx="3442106" cy="26060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5540" y="1920240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200" b="1" i="0">
                <a:solidFill>
                  <a:srgbClr val="A78BFA"/>
                </a:solidFill>
                <a:latin typeface="Aptos"/>
              </a:rPr>
              <a:t>Supervisor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5540" y="2487168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2F4FF"/>
                </a:solidFill>
                <a:latin typeface="Aptos"/>
              </a:rPr>
              <a:t>a model picks which specialist works next; control always returns to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5540" y="3355848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1">
                <a:solidFill>
                  <a:srgbClr val="666E94"/>
                </a:solidFill>
                <a:latin typeface="Aptos"/>
              </a:rPr>
              <a:t>open-ended jobs where the order isn't known in advance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63600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80060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The decision: know the steps? Draw a workflow. Don't? Let a supervisor pick.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22D3EE"/>
                </a:solidFill>
                <a:latin typeface="Apto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Send, subgraphs, a supervisor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Notebook Parts 1–3.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BUILDING BLOCKS · 70 MINUTES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PART 1 · FAN OUT, GATHER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Send: one copy per item, all at 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25146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class Batch(TypedDict):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reviews: list[str]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grades: Annotated[list, operator.add]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fan_out(state):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[Send("grade_one", {"i": i, "text": t})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    for i, t in enumerate(state["reviews"])]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b.add_conditional_edges(START, fan_out, ["grade_one"])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2624328"/>
            <a:ext cx="1097280" cy="5029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fan_out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247" y="1709928"/>
            <a:ext cx="146304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grade_one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7421727" y="1938528"/>
            <a:ext cx="731520" cy="932688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616287" y="1938528"/>
            <a:ext cx="731520" cy="932688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53247" y="2313432"/>
            <a:ext cx="146304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grade_one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7421727" y="2542032"/>
            <a:ext cx="731520" cy="32918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16287" y="2542032"/>
            <a:ext cx="731520" cy="32918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53247" y="2916936"/>
            <a:ext cx="146304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grade_one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21727" y="2871216"/>
            <a:ext cx="731520" cy="27432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616287" y="2871216"/>
            <a:ext cx="731520" cy="27432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53247" y="3520440"/>
            <a:ext cx="146304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… × 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21727" y="2871216"/>
            <a:ext cx="731520" cy="87782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9616287" y="2871216"/>
            <a:ext cx="731520" cy="87782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347807" y="2624328"/>
            <a:ext cx="1280160" cy="5029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grades +=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" y="4407408"/>
            <a:ext cx="63500" cy="635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4297680"/>
            <a:ext cx="1058235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Each copy gets its payload, not the whole state.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4736592"/>
            <a:ext cx="63500" cy="635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26864"/>
            <a:ext cx="1058235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They finish in any order — carry an index, sort afterwards.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" y="5065776"/>
            <a:ext cx="63500" cy="635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4956048"/>
            <a:ext cx="1058235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Without a reducer on grades, six copies writing one key in one step is an error.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367528"/>
            <a:ext cx="10874959" cy="50292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532120"/>
            <a:ext cx="10326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Aptos"/>
              </a:rPr>
              <a:t>Live: 6 reviews graded in 1.1 s with Send, 4.0 s one after another.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PART 2 · SUBGRAPHS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 subgraph is a tested unit you reuse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research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(KB search)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84708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write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79008" y="184708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fact_check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78608" y="2167128"/>
            <a:ext cx="73152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47488" y="2167128"/>
            <a:ext cx="73152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47688" y="2487168"/>
            <a:ext cx="0" cy="411480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178808" y="2898648"/>
            <a:ext cx="2468880" cy="0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78808" y="2487168"/>
            <a:ext cx="0" cy="411480"/>
          </a:xfrm>
          <a:prstGeom prst="line">
            <a:avLst/>
          </a:prstGeom>
          <a:ln w="19050">
            <a:solidFill>
              <a:srgbClr val="FB71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67328" y="294436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B7185"/>
                </a:solidFill>
                <a:latin typeface="Aptos"/>
              </a:rPr>
              <a:t>unsupported claims: rewrite (max 2 drafts)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16368" y="2167128"/>
            <a:ext cx="731520" cy="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93608" y="205740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section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447288"/>
            <a:ext cx="1856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TO EMBED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60" y="3447288"/>
            <a:ext cx="538327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HOW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1398" y="3447288"/>
            <a:ext cx="303192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WHEN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758184"/>
            <a:ext cx="1087495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886200"/>
            <a:ext cx="16550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same keys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6960" y="3886200"/>
            <a:ext cx="518210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parent.add_node("section", section_writer)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1398" y="3886200"/>
            <a:ext cx="28307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schemas share keys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4361688"/>
            <a:ext cx="16550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different keys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6960" y="4361688"/>
            <a:ext cx="518210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call section_writer.invoke(...) inside a node, translate in and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1398" y="4361688"/>
            <a:ext cx="28307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project: blog state ≠ section state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892040"/>
            <a:ext cx="10874959" cy="50292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56632"/>
            <a:ext cx="10326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Build it, test it alone, then drop it into bigger graphs.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2 · A PROMPT IS NOT A GUARANTEE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Why keep a checker if the writer behaves?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0287" y="603504"/>
            <a:ext cx="1389879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FB7185"/>
                </a:solidFill>
                <a:latin typeface="Aptos"/>
              </a:rPr>
              <a:t>PHOTOGRAPH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591056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"MAKE IT EXCITING AND SPECIFIC" — NO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92808"/>
            <a:ext cx="5208879" cy="251460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075688"/>
            <a:ext cx="4751679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 i="1">
                <a:solidFill>
                  <a:srgbClr val="F2F4FF"/>
                </a:solidFill>
                <a:latin typeface="Aptos"/>
              </a:rPr>
              <a:t>“Our latest battery upgrade boosts your device's life by an incredible 40%… the new fast-charging tech gets you from 0 to 80% in just 30 minutes… enhanced durability and smarter energy management…”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1591056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THE SAME FACT-CHECKER</a:t>
            </a:r>
          </a:p>
        </p:txBody>
      </p:sp>
      <p:sp>
        <p:nvSpPr>
          <p:cNvPr id="13" name="Oval 12"/>
          <p:cNvSpPr/>
          <p:nvPr/>
        </p:nvSpPr>
        <p:spPr>
          <a:xfrm>
            <a:off x="6324447" y="207568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7055" y="1965960"/>
            <a:ext cx="491627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✗  40% longer battery life — not in the sources</a:t>
            </a:r>
          </a:p>
        </p:txBody>
      </p:sp>
      <p:sp>
        <p:nvSpPr>
          <p:cNvPr id="15" name="Oval 14"/>
          <p:cNvSpPr/>
          <p:nvPr/>
        </p:nvSpPr>
        <p:spPr>
          <a:xfrm>
            <a:off x="6324447" y="257860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7055" y="2468880"/>
            <a:ext cx="491627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✗  0 to 80% in 30 minutes — not in the sources</a:t>
            </a:r>
          </a:p>
        </p:txBody>
      </p:sp>
      <p:sp>
        <p:nvSpPr>
          <p:cNvPr id="17" name="Oval 16"/>
          <p:cNvSpPr/>
          <p:nvPr/>
        </p:nvSpPr>
        <p:spPr>
          <a:xfrm>
            <a:off x="6324447" y="308152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055" y="2971800"/>
            <a:ext cx="491627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✗  enhanced durability, smarter energy management</a:t>
            </a:r>
          </a:p>
        </p:txBody>
      </p:sp>
      <p:sp>
        <p:nvSpPr>
          <p:cNvPr id="19" name="Oval 18"/>
          <p:cNvSpPr/>
          <p:nvPr/>
        </p:nvSpPr>
        <p:spPr>
          <a:xfrm>
            <a:off x="6324447" y="358444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7055" y="3474720"/>
            <a:ext cx="491627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✗  "much better", "more reliable"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681728"/>
            <a:ext cx="10874959" cy="73152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846320"/>
            <a:ext cx="103263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Nothing in the KB mentions a battery upgrade. One extra call per section stops an invented number reaching customers.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3 · THE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 supervisor routes; specialists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2928" y="280720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F2F4FF"/>
                </a:solidFill>
                <a:latin typeface="Aptos"/>
              </a:rPr>
              <a:t>supervisor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1618488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researcher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search_kb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1709928" y="2167128"/>
            <a:ext cx="2011680" cy="640080"/>
          </a:xfrm>
          <a:prstGeom prst="line">
            <a:avLst/>
          </a:prstGeom>
          <a:ln w="19050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864608" y="1618488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analyst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ticket_stats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721608" y="2167128"/>
            <a:ext cx="2011680" cy="640080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28" y="4133088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writer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no tools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21608" y="3447288"/>
            <a:ext cx="0" cy="68580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72744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666E94"/>
                </a:solidFill>
                <a:latin typeface="Aptos"/>
              </a:rPr>
              <a:t>every worker returns to the supervisor · MAX_HANDOFFS =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1591056"/>
            <a:ext cx="48399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LIVE — "FIVE-LINE CEO UPDATE ON THE ORBIT"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93408" y="1892808"/>
            <a:ext cx="4839919" cy="192024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2075688"/>
            <a:ext cx="438271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supervisor → researcher: what went wrong,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                     is it fixed?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supervisor → analyst: ticket count, peak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supervisor → writer: five-line update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supervisor → FINISH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93408" y="3950208"/>
            <a:ext cx="4839919" cy="9601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4133088"/>
            <a:ext cx="438271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"…215 support tickets, peaking at 71 in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the week of 2026-W12…"   ✓ matches the data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3 · CHOOSING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Workflow, supervisor or handoffs?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618488"/>
            <a:ext cx="22704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1117" y="1618488"/>
            <a:ext cx="25175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WORKFLOW (YOU DRAW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9856" y="1618488"/>
            <a:ext cx="25175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SUPERVISOR (HUB)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8595" y="1618488"/>
            <a:ext cx="27647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HANDOFFS (RELAY, WEEK 11)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9384"/>
            <a:ext cx="1087495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57400"/>
            <a:ext cx="206924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Who picks the next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1117" y="2057400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your edges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9856" y="2057400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routing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8595" y="2057400"/>
            <a:ext cx="256356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agent that's working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532888"/>
            <a:ext cx="206924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Cost per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1117" y="2532888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none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9856" y="2532888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one extra model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595" y="2532888"/>
            <a:ext cx="256356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none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2880360"/>
            <a:ext cx="1087495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008376"/>
            <a:ext cx="206924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Where the budget lives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1117" y="3008376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your routers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9856" y="3008376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one place: the 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8595" y="3008376"/>
            <a:ext cx="256356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every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3483864"/>
            <a:ext cx="206924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Testable path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1117" y="3483864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yes — assert on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9856" y="3483864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per run, from the trace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8595" y="3483864"/>
            <a:ext cx="256356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per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831336"/>
            <a:ext cx="1087495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3959352"/>
            <a:ext cx="206924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Use when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1117" y="3959352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steps are known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49856" y="3959352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order depends on the request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68595" y="3959352"/>
            <a:ext cx="256356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conversation moves between desks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489704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654296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Most production systems: a workflow on the outside, a model choosing only inside one node.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FB7185"/>
                </a:solidFill>
                <a:latin typeface="Apto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The Nimbus blog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Known steps, so it's a workflow — with Send and a subgraph inside.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PROJECT · 45 MINUTES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4 · THE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Plan, approve, write in parallel, edit, sign 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plan_outline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31136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review_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outline 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6672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assemble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22208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sign_off 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4976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publish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03904" y="1389888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2F4FF"/>
                </a:solidFill>
                <a:latin typeface="Aptos"/>
              </a:rPr>
              <a:t>write_section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557016" y="1618488"/>
            <a:ext cx="246888" cy="74066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29784" y="1618488"/>
            <a:ext cx="246888" cy="74066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803904" y="2075688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2F4FF"/>
                </a:solidFill>
                <a:latin typeface="Aptos"/>
              </a:rPr>
              <a:t>write_section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557016" y="2304288"/>
            <a:ext cx="246888" cy="5486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9784" y="2304288"/>
            <a:ext cx="246888" cy="5486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803904" y="2761488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2F4FF"/>
                </a:solidFill>
                <a:latin typeface="Aptos"/>
              </a:rPr>
              <a:t>write_section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57016" y="2359152"/>
            <a:ext cx="246888" cy="630936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129784" y="2359152"/>
            <a:ext cx="246888" cy="630936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03904" y="326440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Send × 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984248" y="2359152"/>
            <a:ext cx="246888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702552" y="2359152"/>
            <a:ext cx="246888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275320" y="2359152"/>
            <a:ext cx="246888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848088" y="2359152"/>
            <a:ext cx="246888" cy="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85148" y="2642616"/>
            <a:ext cx="0" cy="530352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612380" y="3172968"/>
            <a:ext cx="1572768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612380" y="2642616"/>
            <a:ext cx="0" cy="530352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949440" y="3218688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changes requested (max 2)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904488"/>
            <a:ext cx="3442106" cy="10972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123944"/>
            <a:ext cx="38100" cy="165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6" y="4098544"/>
            <a:ext cx="288432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Aptos"/>
              </a:rPr>
              <a:t>EACH WRITE_SECTION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is the Part 2 subgraph: research → write → fact-check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4794" y="3904488"/>
            <a:ext cx="3442106" cy="10972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94250" y="4123944"/>
            <a:ext cx="38100" cy="165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3122" y="4098544"/>
            <a:ext cx="288432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22D3EE"/>
                </a:solidFill>
                <a:latin typeface="Aptos"/>
              </a:rPr>
              <a:t>ASSEMBLE WAITS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runs once, after every parallel copy has finished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1220" y="3904488"/>
            <a:ext cx="3442106" cy="10972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310676" y="4123944"/>
            <a:ext cx="38100" cy="165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29548" y="4098544"/>
            <a:ext cx="288432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FB7185"/>
                </a:solidFill>
                <a:latin typeface="Aptos"/>
              </a:rPr>
              <a:t>PUBLISH IS LAST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only side effect, in its own node, after both pauses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4 · LIVE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The 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4959" cy="22860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1041775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plan_outline                                   ⏸ approve the outline  (3 sections)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outline edited by human                        + "What you need to do"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write_section 1: 1 draft(s), 0 unsupported claim(s) left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write_section 2 · 3 · 4: same                  (in parallel)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assemble  · edit                               ⏸ sign off to publish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changes requested by human                     "open with the apology… under 400 words"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edit (with human notes)                        ⏸ sign off to publish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signed off by human  · publish                 ✅ blog/orbit-firmware-2-3-1.md  (249 words)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087368"/>
            <a:ext cx="3442106" cy="11430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7824" y="4306824"/>
            <a:ext cx="38100" cy="165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4281424"/>
            <a:ext cx="2884322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Aptos"/>
              </a:rPr>
              <a:t>HUMAN EDIT 1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added a section the planner missed: what customers should actually 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4087368"/>
            <a:ext cx="3442106" cy="11430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94250" y="4306824"/>
            <a:ext cx="38100" cy="165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3122" y="4281424"/>
            <a:ext cx="2884322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Aptos"/>
              </a:rPr>
              <a:t>FACT-CHECK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all 4 sections passed on the first draft, each citing 3 KB articles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1220" y="4087368"/>
            <a:ext cx="3442106" cy="11430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10676" y="4306824"/>
            <a:ext cx="38100" cy="165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9548" y="4281424"/>
            <a:ext cx="2884322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Aptos"/>
              </a:rPr>
              <a:t>HUMAN EDIT 2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open with the apology, under 400 words — done, and more (next slides)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PART 4 · THE PRICE OF PARALLELISM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Parallel writers can't see each other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09928"/>
            <a:ext cx="3442106" cy="17373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892808"/>
            <a:ext cx="298490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SECTION 2 · WHAT IT FIXES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58568"/>
            <a:ext cx="298490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F2F4FF"/>
                </a:solidFill>
                <a:latin typeface="Aptos"/>
              </a:rPr>
              <a:t>“…you can also update manually through the app under Settings &gt; Firmware.”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1709928"/>
            <a:ext cx="3442106" cy="17373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3394" y="1892808"/>
            <a:ext cx="298490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SECTION 3 · HOW TO 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3394" y="2258568"/>
            <a:ext cx="298490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F2F4FF"/>
                </a:solidFill>
                <a:latin typeface="Aptos"/>
              </a:rPr>
              <a:t>“…open the Orbit app, go to Settings, then Firmware, and follow the prompts.”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1220" y="1709928"/>
            <a:ext cx="3442106" cy="17373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9820" y="1892808"/>
            <a:ext cx="298490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SECTION 4 · WHAT TO 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9820" y="2258568"/>
            <a:ext cx="298490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F2F4FF"/>
                </a:solidFill>
                <a:latin typeface="Aptos"/>
              </a:rPr>
              <a:t>“…you can also update manually through the app by opening it, going to Settings, then Firmware…”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58768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3749040"/>
            <a:ext cx="1058235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Each writer got one brief and three sources. None knew what the others were writing.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" y="4242816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33088"/>
            <a:ext cx="1058235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Fix upstream: the planner writes briefs that say what NOT to cover (exercise 6).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626864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517136"/>
            <a:ext cx="1058235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Fix downstream: the editor is told to cut anything said twice.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047488"/>
            <a:ext cx="10874959" cy="50292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212080"/>
            <a:ext cx="10326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Speed from parallelism is real. So is the coordination cost — plan for it.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4 · TRUST, BUT VERIFY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The editor deleted the human's section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0287" y="603504"/>
            <a:ext cx="1389879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FB7185"/>
                </a:solidFill>
                <a:latin typeface="Aptos"/>
              </a:rPr>
              <a:t>PHOTOGRAPH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18488"/>
            <a:ext cx="5208879" cy="173736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01368"/>
            <a:ext cx="4751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✓ kept      Background: The Overheating Incident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✓ kept      What Firmware 2.3.1 Fixes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✓ kept      How to Update Your Orbit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✗ MISSING   What you need to do   ← the human added it</a:t>
            </a:r>
          </a:p>
        </p:txBody>
      </p:sp>
      <p:sp>
        <p:nvSpPr>
          <p:cNvPr id="11" name="Oval 10"/>
          <p:cNvSpPr/>
          <p:nvPr/>
        </p:nvSpPr>
        <p:spPr>
          <a:xfrm>
            <a:off x="6324447" y="180136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7055" y="1691640"/>
            <a:ext cx="491627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Asked for "under 400 words", and allowed to "remove things", the editor dropped a whole section.</a:t>
            </a:r>
          </a:p>
        </p:txBody>
      </p:sp>
      <p:sp>
        <p:nvSpPr>
          <p:cNvPr id="13" name="Oval 12"/>
          <p:cNvSpPr/>
          <p:nvPr/>
        </p:nvSpPr>
        <p:spPr>
          <a:xfrm>
            <a:off x="6324447" y="2368296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7055" y="2258568"/>
            <a:ext cx="491627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sign-off approved it — in the notebook it's a scripted cell, not a careful reader.</a:t>
            </a:r>
          </a:p>
        </p:txBody>
      </p:sp>
      <p:sp>
        <p:nvSpPr>
          <p:cNvPr id="15" name="Oval 14"/>
          <p:cNvSpPr/>
          <p:nvPr/>
        </p:nvSpPr>
        <p:spPr>
          <a:xfrm>
            <a:off x="6324447" y="2935224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7055" y="2825496"/>
            <a:ext cx="491627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Published: 249 words, 3 of the 4 approved sections.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675888"/>
            <a:ext cx="5208879" cy="10972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" y="3895344"/>
            <a:ext cx="38100" cy="165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" y="3869944"/>
            <a:ext cx="465109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Aptos"/>
              </a:rPr>
              <a:t>LEAST POWER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Don't let a step undo a human decision: keep every section, shorten inside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4447" y="3675888"/>
            <a:ext cx="5208879" cy="10972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3903" y="3895344"/>
            <a:ext cx="38100" cy="165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2775" y="3869944"/>
            <a:ext cx="465109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Aptos"/>
              </a:rPr>
              <a:t>CHECK IT IN CODE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"Every approved heading is still there" is a rule. Put it in a node before sign_off (exercise 7).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001768"/>
            <a:ext cx="10874959" cy="50292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166360"/>
            <a:ext cx="10326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A human approval is only as good as what enforces it afterwards.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WEEKS 10–13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Four weeks, one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618488"/>
            <a:ext cx="20935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252" y="1618488"/>
            <a:ext cx="1594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WEEK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0116" y="1618488"/>
            <a:ext cx="199377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WEEK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5061" y="1618488"/>
            <a:ext cx="199377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WEEK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0006" y="1618488"/>
            <a:ext cx="21933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WEEK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29384"/>
            <a:ext cx="10874959" cy="5029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18923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Built with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252" y="2057400"/>
            <a:ext cx="1393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while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0116" y="2057400"/>
            <a:ext cx="179260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OpenAI Agents SDK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5061" y="2057400"/>
            <a:ext cx="179260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0006" y="2057400"/>
            <a:ext cx="19921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LangGraph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2560320"/>
            <a:ext cx="18923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You controlled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252" y="2560320"/>
            <a:ext cx="1393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everything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0116" y="2560320"/>
            <a:ext cx="179260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instructions, tools, guards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5061" y="2560320"/>
            <a:ext cx="179260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parts and middleware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0006" y="2560320"/>
            <a:ext cx="19921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graph itself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2935224"/>
            <a:ext cx="10874959" cy="5029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3063240"/>
            <a:ext cx="18923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Human in the 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252" y="3063240"/>
            <a:ext cx="1393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input()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0116" y="3063240"/>
            <a:ext cx="179260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needs_approval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5061" y="3063240"/>
            <a:ext cx="179260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HITL middleware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006" y="3063240"/>
            <a:ext cx="19921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interrupt + Command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3566160"/>
            <a:ext cx="18923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Many 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252" y="3566160"/>
            <a:ext cx="1393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0116" y="3566160"/>
            <a:ext cx="179260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handoffs, as_tool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45061" y="3566160"/>
            <a:ext cx="179260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0006" y="3566160"/>
            <a:ext cx="19921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Send, subgraphs, supervisor</a:t>
            </a:r>
          </a:p>
        </p:txBody>
      </p:sp>
      <p:sp>
        <p:nvSpPr>
          <p:cNvPr id="35" name="Oval 34"/>
          <p:cNvSpPr/>
          <p:nvPr/>
        </p:nvSpPr>
        <p:spPr>
          <a:xfrm>
            <a:off x="658368" y="4306824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976" y="419709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Next frontier, same loop: computer-use agents — screenshot in, mouse and keyboard out. Budgets and human sign-off matter even more when the tool is a real screen.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WRAP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What you take forward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180136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691640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Send fans a step out into as many copies as the data needs; a reducer gathers them.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2368296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258568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A subgraph is a unit you test once and reuse — here, research → write → fact-check.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2935224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825496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A supervisor routes when the order isn't known. It costs a call per step and holds the budget.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3502152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392424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Know the steps? Draw a workflow. Put models inside nodes, not in charge of the path.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4069080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3959352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Humans at the outline and the sign-off — and code that checks their decisions survive.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1888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98348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Checkers, budgets and a human before anything irreversible — in every framework.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2860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200" b="1" i="0">
                <a:solidFill>
                  <a:srgbClr val="F2F4FF"/>
                </a:solidFill>
                <a:latin typeface="Aptos"/>
              </a:rPr>
              <a:t>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474720"/>
            <a:ext cx="1463040" cy="381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785615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04_multi_agent_teams.ipynb — rerun it; then try exercise 4, the blog team as a supervisor.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All three Week 13 notebooks run on their own; each starts with the same setup cell.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“How many agents is too many?”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4794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4250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“Can workers talk to each other directly?”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1220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“Supervisor or workflow for my project?”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LangGraph — Week 13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