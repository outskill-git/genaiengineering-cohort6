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(3 min). Set the frame: today is not "a third framework". Today is one question —</a:t>
            </a:r>
          </a:p>
          <a:p>
            <a:r>
              <a:t>WHO DECIDES WHAT HAPPENS NEXT, the model or you? Everything follows from that.</a:t>
            </a:r>
          </a:p>
          <a:p/>
          <a:p>
            <a:r>
              <a:t>Timing note: this deck is built to be paused. Sections 01-02 (the recap and the failure) are</a:t>
            </a:r>
          </a:p>
          <a:p>
            <a:r>
              <a:t>a complete story on their own. If you run out of time there, stop after slide 15 and open</a:t>
            </a:r>
          </a:p>
          <a:p>
            <a:r>
              <a:t>section 03 next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 (4 min). Ask the room what they remember from 11 and 12 before clicking.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(2 min). Flag the break point: sections 01-02 are a complete story on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 (1 min). Leave it on screen. Come back to it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Notebook Part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LOOP (6 min). Draw this on the board as they call it out — don't just show it. The loop</a:t>
            </a:r>
          </a:p>
          <a:p>
            <a:r>
              <a:t>is: goal in, model decides, tool runs, observation goes back, repeat until the model stops.</a:t>
            </a:r>
          </a:p>
          <a:p>
            <a:r>
              <a:t>Stress the last sentence: every arrow in that picture is chosen by the model at run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VOCABULARY (10 min). Run notebook 1.1-1.3 next to this table. The point of the slide is to</a:t>
            </a:r>
          </a:p>
          <a:p>
            <a:r>
              <a:t>remove the feeling that they are learning a third unrelated thing today.</a:t>
            </a:r>
          </a:p>
          <a:p/>
          <a:p>
            <a:r>
              <a:t>Worth saying out loud: LangChain's Runnable interface (invoke/batch/stream/async) is why a</a:t>
            </a:r>
          </a:p>
          <a:p>
            <a:r>
              <a:t>prompt, a model, a chain AND a compiled graph all behave the same way. LangGraph inherits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(6 min). Deliberately set this up as a complete-looking toolkit. The room should feel</a:t>
            </a:r>
          </a:p>
          <a:p>
            <a:r>
              <a:t>"we have everything covered" — so that section 02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Notebook Part 2. Run it live if you can — the failure is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 (4 min). Note the prompt is deliberately vague — a realistic first draft. The policy is</a:t>
            </a:r>
          </a:p>
          <a:p>
            <a:r>
              <a:t>in a TOOL, not in the prompt, exactly as it would be in a real system where policy lives in a</a:t>
            </a:r>
          </a:p>
          <a:p>
            <a:r>
              <a:t>document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ORDER (5 min). Let them feel satisfied. Ask: "are we done? would you ship this?" Collect a</a:t>
            </a:r>
          </a:p>
          <a:p>
            <a:r>
              <a:t>few yeses. Then turn the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ORDERS (10 min). THE slide of the session. Real output from the saved notebook run.</a:t>
            </a:r>
          </a:p>
          <a:p/>
          <a:p>
            <a:r>
              <a:t>Say the numbers out loud: the SDK paid ₹4,999 on the order that was NOT eligible, and only</a:t>
            </a:r>
          </a:p>
          <a:p>
            <a:r>
              <a:t>₹2,499 on the one that was — it swapped them, and never read the policy at all.</a:t>
            </a:r>
          </a:p>
          <a:p/>
          <a:p>
            <a:r>
              <a:t>Rehearsal across 4 runs each: both frameworks refunded the ineligible order 4/4. The SDK</a:t>
            </a:r>
          </a:p>
          <a:p>
            <a:r>
              <a:t>skipped the policy 2/4 and got amounts wrong 2/4. Their live run will differ in detail — say</a:t>
            </a:r>
          </a:p>
          <a:p>
            <a:r>
              <a:t>so, and say that the variation IS the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DIAGNOSIS (6 min). This is the conceptual heart. For a research assistant, that right-hand</a:t>
            </a:r>
          </a:p>
          <a:p>
            <a:r>
              <a:t>column is the product. For "never refund outside 7 days", it is the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PROMPTING (5 min). Exercise 2 in the notebook asks them to try exactly this and count. Someone</a:t>
            </a:r>
          </a:p>
          <a:p>
            <a:r>
              <a:t>will say "use a bigger model" — same answer: better odds, still no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FENCES (8 min). Work down the right-hand column slowly; this is the slide that earns LangGraph.</a:t>
            </a:r>
          </a:p>
          <a:p>
            <a:r>
              <a:t>The live example matters: the limit did fire, and it still proves nothing about correctness —</a:t>
            </a:r>
          </a:p>
          <a:p>
            <a:r>
              <a:t>if the model had refunded the ineligible order first, the limit would have blocked the GOOD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SHIFT (5 min). Natural stopping point for session 1 if time has gone. Everything after this</a:t>
            </a:r>
          </a:p>
          <a:p>
            <a:r>
              <a:t>is the LangGraph vocabulary and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Notebook Parts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VOCABULARY (6 min). Have them write the four words down before any code. Then build the</a:t>
            </a:r>
          </a:p>
          <a:p>
            <a:r>
              <a:t>smallest graph live on the board: two boxes and an arrow.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TYPEDDICT (8 min). Many learners have never used typing.TypedDict. Run the notebook cell that</a:t>
            </a:r>
          </a:p>
          <a:p>
            <a:r>
              <a:t>shows the typo creating a new key — it always gets a reaction. Stress: at runtime it IS a dict,</a:t>
            </a:r>
          </a:p>
          <a:p>
            <a:r>
              <a:t>so there is no performance or validation cost; the value is for humans and editors.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GRAPH (8 min). Four steps, every time. Point out the picture on the right is GENERATED</a:t>
            </a:r>
          </a:p>
          <a:p>
            <a:r>
              <a:t>from the code (draw_mermaid_png) — it can never drift from what actually runs. Ask them how</a:t>
            </a:r>
          </a:p>
          <a:p>
            <a:r>
              <a:t>they'd get that picture out of an agent loop. (They can't.)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CONDITIONAL EDGES (8 min). The split of labour is the lesson: model for judgement on language,</a:t>
            </a:r>
          </a:p>
          <a:p>
            <a:r>
              <a:t>code for the rule. Run the notebook cell — severity 4 escalated, severity 2 auto-replied.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CYCLES (7 min). Every loop needs BOTH exits — that's Week 10's max_steps, drawn as an edge.</a:t>
            </a:r>
          </a:p>
          <a:p>
            <a:r>
              <a:t>Ask what happens if you forget the budget: GraphRecursionError at 25 steps, which is a crash,</a:t>
            </a:r>
          </a:p>
          <a:p>
            <a:r>
              <a:t>not a bill.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REDUCERS (5 min). The most common LangGraph bug. Exercise 5 makes them reproduce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Notebook Part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(6 min). Have the room do this table for one of their own systems before you show the</a:t>
            </a:r>
          </a:p>
          <a:p>
            <a:r>
              <a:t>graph. It is the single most transferable skill in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GRAPH (8 min). Compare directly with slide 12 — same two orders, same model.</a:t>
            </a:r>
          </a:p>
          <a:p>
            <a:r>
              <a:t>Point at the missing arrow. "Not 'the model was told not to'. There IS no path."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TESTS (5 min). Ask: what would the equivalent test look like for the agent version? There isn't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(5 min). Not a sales pitch for LangGraph — a design choice. Week 12's analyst agent</a:t>
            </a:r>
          </a:p>
          <a:p>
            <a:r>
              <a:t>was genuinely the right call; today's refund rule was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(4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38160" y="685800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2220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0625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9030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74352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685800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4244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2649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054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2220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0625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9030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74352" y="1069848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4244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649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1054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3816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2220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0625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0304" y="1453896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74352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4244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82649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210544" y="1453896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3816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2220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906256" y="1837944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9030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674352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5840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44244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26496" y="1837944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21054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2084831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WEEK 13  ·  SESSION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487168"/>
            <a:ext cx="9692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F2F4FF"/>
                </a:solidFill>
                <a:latin typeface="Aptos"/>
              </a:rPr>
              <a:t>Why LangGraph?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9AA3C4"/>
                </a:solidFill>
                <a:latin typeface="Aptos"/>
              </a:rPr>
              <a:t>From agent loops to graphs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590288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4901184"/>
            <a:ext cx="8961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You've built agents twice — with the OpenAI Agents SDK and with LangChain.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Today: where that design breaks, and the mental model that fixes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WEEKS 10 –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Where we 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01368"/>
            <a:ext cx="2512999" cy="2286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29968"/>
            <a:ext cx="20375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WEEK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50008"/>
            <a:ext cx="2037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2F4FF"/>
                </a:solidFill>
                <a:latin typeface="Aptos"/>
              </a:rPr>
              <a:t>By hand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52928"/>
            <a:ext cx="20375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while loop, a tool schema, a dispatch dict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5687" y="1801368"/>
            <a:ext cx="2512999" cy="2286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3431" y="2029968"/>
            <a:ext cx="20375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WEEK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431" y="2350008"/>
            <a:ext cx="2037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2F4FF"/>
                </a:solidFill>
                <a:latin typeface="Aptos"/>
              </a:rPr>
              <a:t>Agents 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3431" y="2852928"/>
            <a:ext cx="20375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Agent + Runner, tools, handoffs, guardrails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6" y="1801368"/>
            <a:ext cx="2512999" cy="2286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0750" y="2029968"/>
            <a:ext cx="20375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WEEK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0750" y="2350008"/>
            <a:ext cx="2037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2F4FF"/>
                </a:solidFill>
                <a:latin typeface="Aptos"/>
              </a:rPr>
              <a:t>LangChain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0750" y="2852928"/>
            <a:ext cx="20375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models, prompts, LCEL, create_agent, middleware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0325" y="1801368"/>
            <a:ext cx="2512999" cy="22860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8069" y="2029968"/>
            <a:ext cx="20375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WEEK 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069" y="2350008"/>
            <a:ext cx="2037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2F4FF"/>
                </a:solidFill>
                <a:latin typeface="Aptos"/>
              </a:rPr>
              <a:t>LangGraph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8069" y="2852928"/>
            <a:ext cx="20375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 draw the path yourself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8069" y="3447287"/>
            <a:ext cx="1159452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Aptos"/>
              </a:rPr>
              <a:t>YOU ARE HERE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40740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57200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Same loop underneath all four. What changes is how much of it you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9961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99616"/>
            <a:ext cx="38100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7335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A78BFA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8" y="1655064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Recap: two SDKs, one machine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67335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same job written twice, so the words line 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13969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139696"/>
            <a:ext cx="38100" cy="56692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31343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2295144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Where the agent loop breaks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231343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live failure, in both frameworks — with real money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77977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779776"/>
            <a:ext cx="38100" cy="566928"/>
          </a:xfrm>
          <a:prstGeom prst="rect">
            <a:avLst/>
          </a:prstGeom>
          <a:solidFill>
            <a:srgbClr val="666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953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666E94"/>
                </a:solidFill>
                <a:latin typeface="Aptos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2935224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natural break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295351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sections 01–02 stand on their own if we stop here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41985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419856"/>
            <a:ext cx="38100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59359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9968" y="3575304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The mental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359359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graph, node, edge, state — and TypedDict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05993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059936"/>
            <a:ext cx="38100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4233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4215384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The payoff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423367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same job as a graph: provable, testable, boring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1087495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4400" b="1" i="0">
                <a:solidFill>
                  <a:srgbClr val="F2F4FF"/>
                </a:solidFill>
                <a:latin typeface="Aptos"/>
              </a:rPr>
              <a:t>Who decides what happens next?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95728" y="356616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95728" y="3794760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THE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0048" y="42062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it picks the tools, the order, how many times, when to stop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59168" y="356616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59168" y="3794760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42062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 draw the path; the model works inside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30352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Both are valid. Today is about knowing which one you are choosing.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A78BFA"/>
                </a:solidFill>
                <a:latin typeface="Aptos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Two SDKs, one machine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Different spellings for the same four ideas.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RECAP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THE AGENT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What you built in weeks 11 and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81328" y="1892808"/>
            <a:ext cx="160020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666E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goal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67328" y="1892808"/>
            <a:ext cx="1600200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model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decides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53328" y="1892808"/>
            <a:ext cx="160020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tool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runs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8" y="1892808"/>
            <a:ext cx="160020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answer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81528" y="2176272"/>
            <a:ext cx="68580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67528" y="2176272"/>
            <a:ext cx="68580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53528" y="2176272"/>
            <a:ext cx="68580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3428" y="2459736"/>
            <a:ext cx="0" cy="457200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567428" y="2916936"/>
            <a:ext cx="2286000" cy="0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567428" y="2459736"/>
            <a:ext cx="0" cy="457200"/>
          </a:xfrm>
          <a:prstGeom prst="line">
            <a:avLst/>
          </a:prstGeom>
          <a:ln w="1905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767328" y="2962656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A78BFA"/>
                </a:solidFill>
                <a:latin typeface="Aptos"/>
              </a:rPr>
              <a:t>observation → decide again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465576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OPENAI AGENTS SDK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739896"/>
            <a:ext cx="5208879" cy="7772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922776"/>
            <a:ext cx="47516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Agent(instructions, tools)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await Runner.run(agent, task)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3465576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LANGCHAIN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4447" y="3739896"/>
            <a:ext cx="5208879" cy="7772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2191" y="3922776"/>
            <a:ext cx="47516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create_agent(model, tools, prompt)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agent.invoke({"messages": [...]})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700016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8646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One picture, two libraries. The model owns every arrow in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RECAP ·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same four ideas, two spellings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A78BFA"/>
                </a:solidFill>
                <a:latin typeface="Aptos"/>
              </a:rPr>
              <a:t>PHOTOGRAPH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527048"/>
            <a:ext cx="2162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3657" y="1527048"/>
            <a:ext cx="4054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LANGCHAIN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9075" y="1527048"/>
            <a:ext cx="40542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OPENAI AGENTS SDK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37944"/>
            <a:ext cx="10874959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65960"/>
            <a:ext cx="19617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the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3657" y="1965960"/>
            <a:ext cx="385308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init_chat_model("openai:gpt-4.1-mini")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075" y="1965960"/>
            <a:ext cx="385308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Agent(model="gpt-4.1-mini")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386584"/>
            <a:ext cx="19617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the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3657" y="2386584"/>
            <a:ext cx="385308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ChatPromptTemplate (a Runnable)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075" y="2386584"/>
            <a:ext cx="385308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instructions="…"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679192"/>
            <a:ext cx="10874959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2807208"/>
            <a:ext cx="19617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run once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3657" y="2807208"/>
            <a:ext cx="385308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chain.invoke(...)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075" y="2807208"/>
            <a:ext cx="385308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await Runner.run(agent, ...)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227832"/>
            <a:ext cx="19617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run many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23657" y="3227832"/>
            <a:ext cx="385308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chain.batch([...])  — built 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075" y="3227832"/>
            <a:ext cx="385308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asyncio.gather(...)  — you write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520440"/>
            <a:ext cx="10874959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3648456"/>
            <a:ext cx="19617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stream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23657" y="3648456"/>
            <a:ext cx="385308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chain.stream(...)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075" y="3648456"/>
            <a:ext cx="385308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Runner.run_streamed(...)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4069080"/>
            <a:ext cx="19617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typed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23657" y="4069080"/>
            <a:ext cx="385308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llm.with_structured_output(Model)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075" y="4069080"/>
            <a:ext cx="385308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output_type=Model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361688"/>
            <a:ext cx="10874959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4489704"/>
            <a:ext cx="19617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 tool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23657" y="4489704"/>
            <a:ext cx="385308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@tool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075" y="4489704"/>
            <a:ext cx="385308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@function_tool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" y="4910328"/>
            <a:ext cx="19617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the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23657" y="4910328"/>
            <a:ext cx="385308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create_agent(model, tools, prompt)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79075" y="4910328"/>
            <a:ext cx="385308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Agent(model, instructions, tools)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340096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" y="550468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LangChain gives you pieces that compose. The SDK gives you one object that does the job.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RECAP ·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And the safety features you already know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18488"/>
            <a:ext cx="279338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YOU WANTED TO…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4089" y="1618488"/>
            <a:ext cx="373903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LANGCHAIN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4291" y="1618488"/>
            <a:ext cx="373903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OPENAI AGENTS SDK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29384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57400"/>
            <a:ext cx="259221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stop a runaway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4089" y="2057400"/>
            <a:ext cx="35378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ModelCallLimitMiddleware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4291" y="2057400"/>
            <a:ext cx="35378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max_turns=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532888"/>
            <a:ext cx="259221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cap one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4089" y="2532888"/>
            <a:ext cx="35378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ToolCallLimitMiddleware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4291" y="2532888"/>
            <a:ext cx="35378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(write it in the tool)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880360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008376"/>
            <a:ext cx="259221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check input /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4089" y="3008376"/>
            <a:ext cx="35378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middleware (PII, summarise…)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4291" y="3008376"/>
            <a:ext cx="35378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@input_guardrail / @output_guardrail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483864"/>
            <a:ext cx="259221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ask a human 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4089" y="3483864"/>
            <a:ext cx="35378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HumanInTheLoopMiddleware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4291" y="3483864"/>
            <a:ext cx="35378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needs_approval= on the tool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831336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3959352"/>
            <a:ext cx="259221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remember a conversation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4089" y="3959352"/>
            <a:ext cx="35378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 checkpointer + thread_id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4291" y="3959352"/>
            <a:ext cx="35378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SQLiteSession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535424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700016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Hold this list. In twenty minutes we'll find the one thing none of it can 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FB7185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Where the agent loop breaks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One job, two frameworks, real money. Live.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THE LIMITATION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2 · THE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Nimbus refund desk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5163159" cy="71323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83664"/>
            <a:ext cx="4705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Aptos"/>
              </a:rPr>
              <a:t>get_order(id)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57984"/>
            <a:ext cx="4705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product, amount, days since delivery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24328"/>
            <a:ext cx="5163159" cy="71323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752344"/>
            <a:ext cx="4705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Aptos"/>
              </a:rPr>
              <a:t>get_policy(topic)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26664"/>
            <a:ext cx="4705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the returns policy, as 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493008"/>
            <a:ext cx="5163159" cy="71323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621024"/>
            <a:ext cx="4705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 i="0">
                <a:solidFill>
                  <a:srgbClr val="FB7185"/>
                </a:solidFill>
                <a:latin typeface="Aptos"/>
              </a:rPr>
              <a:t>issue_refund(id, amount)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895344"/>
            <a:ext cx="4705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moves real money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0167" y="1755648"/>
            <a:ext cx="5163159" cy="137160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4487" y="1956816"/>
            <a:ext cx="461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THE 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2286000"/>
            <a:ext cx="46145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0" i="0">
                <a:solidFill>
                  <a:srgbClr val="F2F4FF"/>
                </a:solidFill>
                <a:latin typeface="Aptos"/>
              </a:rPr>
              <a:t>Full refund ONLY if delivered within the last 7 days.
Outside 7 days: offer a warranty repair.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1335" y="3401568"/>
            <a:ext cx="21133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5854" y="3401568"/>
            <a:ext cx="14011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DELIVERED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88213" y="3401568"/>
            <a:ext cx="10451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ELIGIBLE?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0167" y="3712464"/>
            <a:ext cx="51631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1335" y="3840480"/>
            <a:ext cx="19121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N104455  ₹4,999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5854" y="3840480"/>
            <a:ext cx="12000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3 days ago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88213" y="3840480"/>
            <a:ext cx="843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yes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1335" y="4297680"/>
            <a:ext cx="19121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N104470  ₹2,499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5854" y="4297680"/>
            <a:ext cx="12000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20 days ago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88213" y="4297680"/>
            <a:ext cx="843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453128"/>
            <a:ext cx="5163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1">
                <a:solidFill>
                  <a:srgbClr val="666E94"/>
                </a:solidFill>
                <a:latin typeface="Aptos"/>
              </a:rPr>
              <a:t>system prompt: "You are Nimbus customer support. Help the customer."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2 · THE DEMO EVERYONE SHOWS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One customer: both agents get it 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18488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LANGCHAIN CREATE_AGENT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5208879" cy="13716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03120"/>
            <a:ext cx="47516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get_order(N104470)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→ get_policy(returns)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money moved: nothing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1618488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OPENAI AGENTS SDK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7" y="1920240"/>
            <a:ext cx="5208879" cy="13716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2191" y="2103120"/>
            <a:ext cx="47516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get_order(N104470)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→ get_policy(returns)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money moved: nothing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493008"/>
            <a:ext cx="10874959" cy="10515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694176"/>
            <a:ext cx="102348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1">
                <a:solidFill>
                  <a:srgbClr val="F2F4FF"/>
                </a:solidFill>
                <a:latin typeface="Aptos"/>
              </a:rPr>
              <a:t>“…delivered 20 days ago. Our policy allows a full refund within 7 days, so I can't refund it — but I can arrange a warranty repair.”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7316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93776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Looked up the order, read the policy, refused politely. This is where most tutorials stop.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2 · THE SAME AGENT, ONE LINE LATER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Two customers: both agents pay 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Aptos"/>
              </a:rPr>
              <a:t>PHOTOGRAPH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5448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1">
                <a:solidFill>
                  <a:srgbClr val="F2F4FF"/>
                </a:solidFill>
                <a:latin typeface="Aptos"/>
              </a:rPr>
              <a:t>“Customers want refunds for orders N104455 and N104470. Handle both.”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84248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LANGCHAIN CREATE_AGENT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86000"/>
            <a:ext cx="5208879" cy="12344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468880"/>
            <a:ext cx="475167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get_order ×2 → get_policy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→ refund(N104455, 4999) ✓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→ refund(N104470, 2499) 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1984248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OPENAI AGENTS SDK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2286000"/>
            <a:ext cx="5208879" cy="12344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2191" y="2468880"/>
            <a:ext cx="475167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get_order ×2    (no policy call)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→ refund(N104455, 2499) 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→ refund(N104470, 4999) 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721608"/>
            <a:ext cx="42767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WHAT WENT WRONG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7460" y="3721608"/>
            <a:ext cx="29973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LANGCHAIN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5977" y="3721608"/>
            <a:ext cx="29973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AGENTS SDK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032504"/>
            <a:ext cx="10874959" cy="43891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160520"/>
            <a:ext cx="40755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refunded the ineligible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7460" y="4160520"/>
            <a:ext cx="27961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yes — ₹2,499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5977" y="4160520"/>
            <a:ext cx="27961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yes — ₹4,999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599432"/>
            <a:ext cx="40755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skipped the policy lookup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7460" y="4599432"/>
            <a:ext cx="27961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5977" y="4599432"/>
            <a:ext cx="27961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yes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910328"/>
            <a:ext cx="10874959" cy="43891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5038344"/>
            <a:ext cx="40755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wrong amounts (swapped)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7460" y="5038344"/>
            <a:ext cx="27961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5977" y="5038344"/>
            <a:ext cx="27961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yes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86400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650992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Same agent. Same tools. Same policy it just quoted correctly. One extra customer.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2 · THE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Why? The control flow lives in the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18488"/>
            <a:ext cx="5163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WHAT YOU WROTE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56816"/>
            <a:ext cx="51631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66544"/>
            <a:ext cx="4705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goal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23744"/>
            <a:ext cx="51631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633472"/>
            <a:ext cx="4705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three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090672"/>
            <a:ext cx="51631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00400"/>
            <a:ext cx="4705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some advice in a 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1618488"/>
            <a:ext cx="5163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WHAT THE MODEL DECIDED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70167" y="1956816"/>
            <a:ext cx="5163159" cy="4572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2066544"/>
            <a:ext cx="4705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which tool to 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70167" y="2523744"/>
            <a:ext cx="5163159" cy="4572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8767" y="2633472"/>
            <a:ext cx="4705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in what order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70167" y="3090672"/>
            <a:ext cx="5163159" cy="4572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8767" y="3200400"/>
            <a:ext cx="4705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how many times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70167" y="3657600"/>
            <a:ext cx="5163159" cy="4572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8767" y="3767328"/>
            <a:ext cx="4705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when to stop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45312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61772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The policy was a suggestion in a prompt, not a gate in the code.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184648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1">
                <a:solidFill>
                  <a:srgbClr val="666E94"/>
                </a:solidFill>
                <a:latin typeface="Aptos"/>
              </a:rPr>
              <a:t>The model didn't forget the rule — it had the rule in context. It simply isn't bound by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2 · THE USUAL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"Just write a stricter prompt"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5163159" cy="2286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84248"/>
            <a:ext cx="461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IT DOES HELP</a:t>
            </a:r>
          </a:p>
        </p:txBody>
      </p:sp>
      <p:sp>
        <p:nvSpPr>
          <p:cNvPr id="10" name="Oval 9"/>
          <p:cNvSpPr/>
          <p:nvPr/>
        </p:nvSpPr>
        <p:spPr>
          <a:xfrm>
            <a:off x="969264" y="248716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2377440"/>
            <a:ext cx="42487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4 failures in 4 → maybe 1 in 10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" y="294436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834640"/>
            <a:ext cx="42487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cheap, fast, worth doing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0167" y="1755648"/>
            <a:ext cx="5163159" cy="2286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4487" y="1984248"/>
            <a:ext cx="461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IT IS NOT A FIX</a:t>
            </a:r>
          </a:p>
        </p:txBody>
      </p:sp>
      <p:sp>
        <p:nvSpPr>
          <p:cNvPr id="16" name="Oval 15"/>
          <p:cNvSpPr/>
          <p:nvPr/>
        </p:nvSpPr>
        <p:spPr>
          <a:xfrm>
            <a:off x="6681063" y="248716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3671" y="2377440"/>
            <a:ext cx="42487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1 in 10 is still real money, every day</a:t>
            </a:r>
          </a:p>
        </p:txBody>
      </p:sp>
      <p:sp>
        <p:nvSpPr>
          <p:cNvPr id="18" name="Oval 17"/>
          <p:cNvSpPr/>
          <p:nvPr/>
        </p:nvSpPr>
        <p:spPr>
          <a:xfrm>
            <a:off x="6681063" y="294436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3671" y="2834640"/>
            <a:ext cx="42487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 cannot write a test that proves it</a:t>
            </a:r>
          </a:p>
        </p:txBody>
      </p:sp>
      <p:sp>
        <p:nvSpPr>
          <p:cNvPr id="20" name="Oval 19"/>
          <p:cNvSpPr/>
          <p:nvPr/>
        </p:nvSpPr>
        <p:spPr>
          <a:xfrm>
            <a:off x="6681063" y="340156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3671" y="3291840"/>
            <a:ext cx="42487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only evidence is "it didn't last time"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31596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48056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A prompt shifts the odds. It never gives you a guarantee.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2 · WHAT THE SDKS GIVE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Every control knob is a fence, not a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Aptos"/>
              </a:rPr>
              <a:t>PHOTOGRAPH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527048"/>
            <a:ext cx="32166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7380" y="1527048"/>
            <a:ext cx="383810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WHAT IT REALLY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6650" y="1527048"/>
            <a:ext cx="32166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WHAT IT CANNOT 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37944"/>
            <a:ext cx="108749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65960"/>
            <a:ext cx="30155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max_turns · ModelCallLimit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7380" y="1965960"/>
            <a:ext cx="36369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stops a runaway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6650" y="1965960"/>
            <a:ext cx="30155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make the right call happen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423160"/>
            <a:ext cx="30155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ToolCallLimitMiddleware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7380" y="2423160"/>
            <a:ext cx="36369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caps how often a tool runs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6650" y="2423160"/>
            <a:ext cx="30155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decide which call was allowed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752344"/>
            <a:ext cx="108749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2880360"/>
            <a:ext cx="30155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guardrails · middleware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7380" y="2880360"/>
            <a:ext cx="36369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check input and output at the edges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6650" y="2880360"/>
            <a:ext cx="30155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reorder the steps between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337560"/>
            <a:ext cx="30155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needs_approval · HITL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7380" y="3337560"/>
            <a:ext cx="36369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pauses for a human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6650" y="3337560"/>
            <a:ext cx="30155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automate the 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666744"/>
            <a:ext cx="108749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3794760"/>
            <a:ext cx="30155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 stricter prompt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7380" y="3794760"/>
            <a:ext cx="36369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shifts the odds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6650" y="3794760"/>
            <a:ext cx="30155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give you a guarantee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3068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LIVE — ToolCallLimitMiddleware(issue_refund, run_limit=1)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581144"/>
            <a:ext cx="10874959" cy="7315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764024"/>
            <a:ext cx="10417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get_order ×2 → get_policy → refund(N104455, 4999)        … and the second refund is blocked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666E94"/>
                </a:solidFill>
                <a:latin typeface="Consolas"/>
              </a:rPr>
              <a:t># it stopped the SECOND call — not the WRONG one. It has no idea which order was eligible.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THE SHIFT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Stop thinking loop. Start thinking map.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91056"/>
            <a:ext cx="51174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AN AGENT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92808"/>
            <a:ext cx="5117439" cy="2286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69848" y="2670048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model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decides everything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50208" y="2121408"/>
            <a:ext cx="1645920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66E94"/>
                </a:solidFill>
                <a:latin typeface="Aptos"/>
              </a:rPr>
              <a:t>which tool?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172968" y="2331720"/>
            <a:ext cx="777240" cy="704088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950208" y="2688336"/>
            <a:ext cx="1645920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66E94"/>
                </a:solidFill>
                <a:latin typeface="Aptos"/>
              </a:rPr>
              <a:t>what order?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172968" y="2898648"/>
            <a:ext cx="777240" cy="13716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950208" y="3255264"/>
            <a:ext cx="1645920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66E94"/>
                </a:solidFill>
                <a:latin typeface="Aptos"/>
              </a:rPr>
              <a:t>how many?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72968" y="3035808"/>
            <a:ext cx="777240" cy="429768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15887" y="1591056"/>
            <a:ext cx="51174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A GRAPH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5887" y="1892808"/>
            <a:ext cx="5117439" cy="2286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35927" y="2715768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fetch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90406" y="2715768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check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44887" y="2304288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yes 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44887" y="3172968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no →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78927" y="2944368"/>
            <a:ext cx="411479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433407" y="2532888"/>
            <a:ext cx="411480" cy="320040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433407" y="3035808"/>
            <a:ext cx="411480" cy="365760"/>
          </a:xfrm>
          <a:prstGeom prst="line">
            <a:avLst/>
          </a:prstGeom>
          <a:ln w="19050">
            <a:solidFill>
              <a:srgbClr val="FB7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98767" y="3813048"/>
            <a:ext cx="47516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666E94"/>
                </a:solidFill>
                <a:latin typeface="Aptos"/>
              </a:rPr>
              <a:t>you see — and own — every arrow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5312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61772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The model still does the thinking. It just doesn't own the wiring.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Graph, node, edge,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Four words. Then we rebuild the refund desk with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THE MENTAL MODEL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PART 4 ·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whole library is four words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2526715" cy="25603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84248"/>
            <a:ext cx="20695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59E0B"/>
                </a:solidFill>
                <a:latin typeface="Aptos"/>
              </a:rPr>
              <a:t>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61488"/>
            <a:ext cx="20695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the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127248"/>
            <a:ext cx="20695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one typed dict that travels through the whole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1115" y="1755648"/>
            <a:ext cx="2526715" cy="25603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9715" y="1984248"/>
            <a:ext cx="20695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A78BFA"/>
                </a:solidFill>
                <a:latin typeface="Aptos"/>
              </a:rPr>
              <a:t>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9715" y="2761488"/>
            <a:ext cx="20695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a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9715" y="3127248"/>
            <a:ext cx="20695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a plain Python function: state in, partial update 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2" y="1755648"/>
            <a:ext cx="2526715" cy="25603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2462" y="1984248"/>
            <a:ext cx="20695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4D399"/>
                </a:solidFill>
                <a:latin typeface="Aptos"/>
              </a:rPr>
              <a:t>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2462" y="2761488"/>
            <a:ext cx="20695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the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2462" y="3127248"/>
            <a:ext cx="20695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an arrow you draw — this is the part you now 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609" y="1755648"/>
            <a:ext cx="2526715" cy="25603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209" y="1984248"/>
            <a:ext cx="20695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2D3EE"/>
                </a:solidFill>
                <a:latin typeface="Aptos"/>
              </a:rPr>
              <a:t>Conditional
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209" y="2761488"/>
            <a:ext cx="20695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the fork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209" y="3127248"/>
            <a:ext cx="20695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a function that reads state and names the next node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59028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75488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A graph is control flow. A model is just one kind of node — usually the minority.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3 · THE STATE OBJECT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Why a TypedDict and not a dict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Aptos"/>
              </a:rPr>
              <a:t>PHOTOGRAPH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91056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A PLAIN DICT — PYTHON DOES NOT CARE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92808"/>
            <a:ext cx="5208879" cy="16002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075688"/>
            <a:ext cx="4751679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order = {"order_id": "N104455",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 "amount_inr": 4999}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order["amount_inr"] = "four thousand"   # now a str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order["amuont_inr"] = 4999              # new key!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1591056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A TYPEDDICT — THE SHAPE IS IN THE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892808"/>
            <a:ext cx="5208879" cy="16002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2191" y="2075688"/>
            <a:ext cx="4751679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class RefundState(TypedDict):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order_id: str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amount_inr: int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days_since_delivery: int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eligible: bool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675888"/>
            <a:ext cx="29560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6782" y="3675888"/>
            <a:ext cx="3657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PLAIN 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5638" y="3675888"/>
            <a:ext cx="3657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TYPEDDICT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86784"/>
            <a:ext cx="10874959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114800"/>
            <a:ext cx="27549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the shape 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6782" y="4114800"/>
            <a:ext cx="3456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in your 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5638" y="4114800"/>
            <a:ext cx="3456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in the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535424"/>
            <a:ext cx="27549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 typo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16782" y="4535424"/>
            <a:ext cx="3456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silently adds a 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5638" y="4535424"/>
            <a:ext cx="3456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flagged by your editor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28032"/>
            <a:ext cx="10874959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956048"/>
            <a:ext cx="27549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at runtime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16782" y="4956048"/>
            <a:ext cx="3456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 dict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75638" y="4956048"/>
            <a:ext cx="3456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same dict — zero cost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385816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5504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Documentation your editor can check — and fifteen nodes will share this object.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PART 4 · YOUR FIRST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Blueprint → nodes → edges → compile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27048"/>
            <a:ext cx="5208879" cy="36576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09928"/>
            <a:ext cx="475167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class Greeting(TypedDict):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name: str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greeting: str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length: int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def make_greeting(state):          # a NODE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return {"greeting": f"Namaste, {state['name']}!"}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b = StateGraph(Greeting)           # blueprint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b.add_node("make_greeting", make_greeting)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b.add_node("measure", measure)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b.add_edge(START, "make_greeting")  # EDGES = order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b.add_edge("make_greeting", "measure")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b.add_edge("measure", END)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graph = b.compile()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0287" y="1664208"/>
            <a:ext cx="2377440" cy="43891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666E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START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19007" y="2103120"/>
            <a:ext cx="0" cy="219456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30287" y="2322576"/>
            <a:ext cx="2377440" cy="43891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make_greeting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19007" y="2761488"/>
            <a:ext cx="0" cy="219456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30287" y="2980944"/>
            <a:ext cx="2377440" cy="43891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measure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19007" y="3419856"/>
            <a:ext cx="0" cy="219456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30287" y="3639312"/>
            <a:ext cx="2377440" cy="43891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666E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END</a:t>
            </a:r>
          </a:p>
        </p:txBody>
      </p:sp>
      <p:sp>
        <p:nvSpPr>
          <p:cNvPr id="17" name="Oval 16"/>
          <p:cNvSpPr/>
          <p:nvPr/>
        </p:nvSpPr>
        <p:spPr>
          <a:xfrm>
            <a:off x="6324447" y="4498848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7055" y="4389120"/>
            <a:ext cx="491627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node returns only what it changes.</a:t>
            </a:r>
          </a:p>
        </p:txBody>
      </p:sp>
      <p:sp>
        <p:nvSpPr>
          <p:cNvPr id="19" name="Oval 18"/>
          <p:cNvSpPr/>
          <p:nvPr/>
        </p:nvSpPr>
        <p:spPr>
          <a:xfrm>
            <a:off x="6324447" y="4882896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7055" y="4773168"/>
            <a:ext cx="491627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compile() validates the map, then it's a Runnable.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5 · BRANCHING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 conditional edge is an if you can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487168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triage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(LLM)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2487168"/>
            <a:ext cx="192024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severity ≥ 4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801368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escalate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3172968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auto_reply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0048" y="2770632"/>
            <a:ext cx="73152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321808" y="2084832"/>
            <a:ext cx="914400" cy="585216"/>
          </a:xfrm>
          <a:prstGeom prst="line">
            <a:avLst/>
          </a:prstGeom>
          <a:ln w="19050">
            <a:solidFill>
              <a:srgbClr val="FB7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21808" y="2871216"/>
            <a:ext cx="914400" cy="585216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230368" y="2075688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FB7185"/>
                </a:solidFill>
                <a:latin typeface="Aptos"/>
              </a:rP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3218688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34D399"/>
                </a:solidFill>
                <a:latin typeface="Aptos"/>
              </a:rPr>
              <a:t>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9328" y="1801368"/>
            <a:ext cx="3193999" cy="13716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1984248"/>
            <a:ext cx="273679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def choose_lane(t):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return ("escalate"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    if t["severity"] &gt;= 4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    else "auto_reply")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087368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model reads messy human text. Code applies the threshold — identically, every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498848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681728"/>
            <a:ext cx="104177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assert choose_lane({"severity": 5}) == "escalate"      # a real unit test. no API key, no flakiness.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230368"/>
            <a:ext cx="10874959" cy="5029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5394960"/>
            <a:ext cx="103263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You cannot write that test against an agent loop. That is the whole pitch.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6 · CYCLES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 loop you can see — with two exits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07008" y="2304288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write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(LLM)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8" y="2304288"/>
            <a:ext cx="2103120" cy="6400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short enough?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59168" y="2304288"/>
            <a:ext cx="1645920" cy="6400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666E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END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18688" y="2624328"/>
            <a:ext cx="82296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144768" y="2624328"/>
            <a:ext cx="914400" cy="0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93208" y="2944368"/>
            <a:ext cx="0" cy="502920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212848" y="3447288"/>
            <a:ext cx="2880360" cy="0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212848" y="2944368"/>
            <a:ext cx="0" cy="502920"/>
          </a:xfrm>
          <a:prstGeom prst="line">
            <a:avLst/>
          </a:prstGeom>
          <a:ln w="19050">
            <a:solidFill>
              <a:srgbClr val="FB7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95728" y="349300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FB7185"/>
                </a:solidFill>
                <a:latin typeface="Aptos"/>
              </a:rPr>
              <a:t>too long: try again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995928"/>
            <a:ext cx="5208879" cy="914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" y="4215384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" y="4189984"/>
            <a:ext cx="46510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EXIT 1 — THE GOAL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draft is under 12 words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4447" y="3995928"/>
            <a:ext cx="5208879" cy="914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43903" y="4215384"/>
            <a:ext cx="38100" cy="165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62775" y="4189984"/>
            <a:ext cx="46510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Aptos"/>
              </a:rPr>
              <a:t>EXIT 2 — THE BUDGET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3 attempts, then stop anyway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093208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276088"/>
            <a:ext cx="104177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LIVE:  attempt 1 → 14 words   ·   attempt 2 → 11 words ✓        safety net: recursion_limit =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6 · REDUCERS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list that loses items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13716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history: list[str]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66E94"/>
                </a:solidFill>
                <a:latin typeface="Consolas"/>
              </a:rPr>
              <a:t># node A writes ["a"], node B writes ["b"]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66E94"/>
                </a:solidFill>
                <a:latin typeface="Consolas"/>
              </a:rPr>
              <a:t># result: ["b"]        &lt;- A's work is gone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664208"/>
            <a:ext cx="5208879" cy="13716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2191" y="1847088"/>
            <a:ext cx="47516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history: Annotated[list[str], operator.add]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66E94"/>
                </a:solidFill>
                <a:latin typeface="Consolas"/>
              </a:rPr>
              <a:t># result: ["a", "b"]   &lt;- appended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310128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By default a node's update REPLACES the key. A reducer says how to merge instead.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721608"/>
            <a:ext cx="22845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REDUCER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5240" y="3721608"/>
            <a:ext cx="35273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AN UPDATE…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3797" y="3721608"/>
            <a:ext cx="44595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USE IT FOR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032504"/>
            <a:ext cx="10874959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160520"/>
            <a:ext cx="2083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(none)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45240" y="4160520"/>
            <a:ext cx="33262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replaces the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3797" y="4160520"/>
            <a:ext cx="4258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one value: a draft, a flag, an 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581144"/>
            <a:ext cx="2083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operator.add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5240" y="4581144"/>
            <a:ext cx="33262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appends to the 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3797" y="4581144"/>
            <a:ext cx="4258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 log, a path, collected results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873752"/>
            <a:ext cx="10874959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5001768"/>
            <a:ext cx="2083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add_messages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5240" y="5001768"/>
            <a:ext cx="33262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appends, or replaces by 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3797" y="5001768"/>
            <a:ext cx="4258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chat history (MessagesState)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431536"/>
            <a:ext cx="10874959" cy="5029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596128"/>
            <a:ext cx="103263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A list that mysteriously loses items is almost always a missing reducer.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34D399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The refund desk, as a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Same job. Same model. This time it cannot get it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THE PAYOFF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7 · THE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Decide who owns each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64208"/>
            <a:ext cx="35273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8093" y="1664208"/>
            <a:ext cx="19738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3084" y="1664208"/>
            <a:ext cx="47702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WHY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75104"/>
            <a:ext cx="10874959" cy="53035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103120"/>
            <a:ext cx="332622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read the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8093" y="2103120"/>
            <a:ext cx="177265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3084" y="2103120"/>
            <a:ext cx="456907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it's a lookup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633472"/>
            <a:ext cx="332622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is it within 7 days?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8093" y="2633472"/>
            <a:ext cx="177265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3084" y="2633472"/>
            <a:ext cx="456907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it's a rule, not a judgement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035808"/>
            <a:ext cx="10874959" cy="53035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163824"/>
            <a:ext cx="332622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how much to refund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8093" y="3163824"/>
            <a:ext cx="177265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3084" y="3163824"/>
            <a:ext cx="456907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it's in the order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694176"/>
            <a:ext cx="332622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write the customer's reply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8093" y="3694176"/>
            <a:ext cx="177265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3084" y="3694176"/>
            <a:ext cx="456907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that's language — models are good at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370832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535424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Model where you need judgement. Code where you need a guarantee.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193792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1">
                <a:solidFill>
                  <a:srgbClr val="666E94"/>
                </a:solidFill>
                <a:latin typeface="Aptos"/>
              </a:rPr>
              <a:t>Note what did NOT change: same model, same tools, same prompt quality. Only the wiring moved.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7 · THE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No arrow to refund unless eligible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Aptos"/>
              </a:rPr>
              <a:t>PHOTOGRAPH THIS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70048"/>
            <a:ext cx="1828800" cy="62179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fetch_order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81528" y="2670048"/>
            <a:ext cx="1828800" cy="62179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check_eligibility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(code)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13248" y="1984248"/>
            <a:ext cx="1828800" cy="62179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refund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44968" y="2670048"/>
            <a:ext cx="1828800" cy="621792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write_reply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(LLM)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76688" y="2670048"/>
            <a:ext cx="1280160" cy="62179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666E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END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78608" y="2980944"/>
            <a:ext cx="50292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10328" y="2295144"/>
            <a:ext cx="502920" cy="557784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42048" y="2295144"/>
            <a:ext cx="1417320" cy="374904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910328" y="2980944"/>
            <a:ext cx="2834640" cy="100584"/>
          </a:xfrm>
          <a:prstGeom prst="line">
            <a:avLst/>
          </a:prstGeom>
          <a:ln w="19050">
            <a:solidFill>
              <a:srgbClr val="FB7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73768" y="2980944"/>
            <a:ext cx="50292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64608" y="2624328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34D399"/>
                </a:solidFill>
                <a:latin typeface="Aptos"/>
              </a:rPr>
              <a:t>eligible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309981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FB7185"/>
                </a:solidFill>
                <a:latin typeface="Aptos"/>
              </a:rPr>
              <a:t>not eligible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767328"/>
            <a:ext cx="10874959" cy="9144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950208"/>
            <a:ext cx="104177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N104455  eligible=True   refunded=4999   (delivered 3 days ago, window is 7)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N104470  eligible=False  refunded=0      (delivered 20 days ago, window is 7)   → warranty repair offered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818888"/>
            <a:ext cx="10874959" cy="5029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983480"/>
            <a:ext cx="103263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The amount comes from the order record, so it cannot be swapped or zeroed.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7 · WHAT YOU GAINED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Now the policy is a unit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18488"/>
            <a:ext cx="10874959" cy="17373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1041775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assert check_eligibility({"order": {"delivered_days_ago": 3}})["eligible"] is True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assert check_eligibility({"order": {"delivered_days_ago": 7}})["eligible"] is True    # boundary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assert check_eligibility({"order": {"delivered_days_ago": 8}})["eligible"] is False   # boundary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assert check_eligibility({"order": {}})["eligible"] is False                          # unknown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584448"/>
            <a:ext cx="3442106" cy="1143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7824" y="3803904"/>
            <a:ext cx="38100" cy="165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3778504"/>
            <a:ext cx="2884322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NO API KEY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rule is plain Python — it runs offline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4794" y="3584448"/>
            <a:ext cx="3442106" cy="1143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4250" y="3803904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3122" y="3778504"/>
            <a:ext cx="2884322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MILLISECONDS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run it on every commit, in CI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1220" y="3584448"/>
            <a:ext cx="3442106" cy="1143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10676" y="3803904"/>
            <a:ext cx="38100" cy="165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9548" y="3778504"/>
            <a:ext cx="2884322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Aptos"/>
              </a:rPr>
              <a:t>THE BOUNDARY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7 and 8 — the cases a prompt can never pin down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95604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512064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"Predictable" isn't a feeling. It's a test that runs on every commit.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THE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So when do you still use an agent loop?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5208879" cy="29260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84248"/>
            <a:ext cx="466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A78BFA"/>
                </a:solidFill>
                <a:latin typeface="Aptos"/>
              </a:rPr>
              <a:t>Agent loop  ·  SDK or create_agent</a:t>
            </a:r>
          </a:p>
        </p:txBody>
      </p:sp>
      <p:sp>
        <p:nvSpPr>
          <p:cNvPr id="10" name="Oval 9"/>
          <p:cNvSpPr/>
          <p:nvPr/>
        </p:nvSpPr>
        <p:spPr>
          <a:xfrm>
            <a:off x="969264" y="257860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2468880"/>
            <a:ext cx="429447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path depends on what it finds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" y="3017520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907792"/>
            <a:ext cx="429447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open-ended research and Q&amp;A</a:t>
            </a:r>
          </a:p>
        </p:txBody>
      </p:sp>
      <p:sp>
        <p:nvSpPr>
          <p:cNvPr id="14" name="Oval 13"/>
          <p:cNvSpPr/>
          <p:nvPr/>
        </p:nvSpPr>
        <p:spPr>
          <a:xfrm>
            <a:off x="969264" y="3456432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3346704"/>
            <a:ext cx="429447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 want the model to surprise you</a:t>
            </a:r>
          </a:p>
        </p:txBody>
      </p:sp>
      <p:sp>
        <p:nvSpPr>
          <p:cNvPr id="16" name="Oval 15"/>
          <p:cNvSpPr/>
          <p:nvPr/>
        </p:nvSpPr>
        <p:spPr>
          <a:xfrm>
            <a:off x="969264" y="3895344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1872" y="3785616"/>
            <a:ext cx="429447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variable cost and path are fine</a:t>
            </a:r>
          </a:p>
        </p:txBody>
      </p:sp>
      <p:sp>
        <p:nvSpPr>
          <p:cNvPr id="18" name="Oval 17"/>
          <p:cNvSpPr/>
          <p:nvPr/>
        </p:nvSpPr>
        <p:spPr>
          <a:xfrm>
            <a:off x="969264" y="4334256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61872" y="4224528"/>
            <a:ext cx="429447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e.g. "why did Orbit's rating drop?"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4447" y="1755648"/>
            <a:ext cx="5208879" cy="29260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8767" y="1984248"/>
            <a:ext cx="466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34D399"/>
                </a:solidFill>
                <a:latin typeface="Aptos"/>
              </a:rPr>
              <a:t>Graph  ·  LangGraph</a:t>
            </a:r>
          </a:p>
        </p:txBody>
      </p:sp>
      <p:sp>
        <p:nvSpPr>
          <p:cNvPr id="22" name="Oval 21"/>
          <p:cNvSpPr/>
          <p:nvPr/>
        </p:nvSpPr>
        <p:spPr>
          <a:xfrm>
            <a:off x="6635343" y="257860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27951" y="2468880"/>
            <a:ext cx="429447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some steps must always happen, in order</a:t>
            </a:r>
          </a:p>
        </p:txBody>
      </p:sp>
      <p:sp>
        <p:nvSpPr>
          <p:cNvPr id="24" name="Oval 23"/>
          <p:cNvSpPr/>
          <p:nvPr/>
        </p:nvSpPr>
        <p:spPr>
          <a:xfrm>
            <a:off x="6635343" y="3017520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27951" y="2907792"/>
            <a:ext cx="429447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rule, an approval, an audit trail</a:t>
            </a:r>
          </a:p>
        </p:txBody>
      </p:sp>
      <p:sp>
        <p:nvSpPr>
          <p:cNvPr id="26" name="Oval 25"/>
          <p:cNvSpPr/>
          <p:nvPr/>
        </p:nvSpPr>
        <p:spPr>
          <a:xfrm>
            <a:off x="6635343" y="3456432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27951" y="3346704"/>
            <a:ext cx="429447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 need to test the path, not just the answer</a:t>
            </a:r>
          </a:p>
        </p:txBody>
      </p:sp>
      <p:sp>
        <p:nvSpPr>
          <p:cNvPr id="28" name="Oval 27"/>
          <p:cNvSpPr/>
          <p:nvPr/>
        </p:nvSpPr>
        <p:spPr>
          <a:xfrm>
            <a:off x="6635343" y="3895344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27951" y="3785616"/>
            <a:ext cx="429447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mistake costs money or trust</a:t>
            </a:r>
          </a:p>
        </p:txBody>
      </p:sp>
      <p:sp>
        <p:nvSpPr>
          <p:cNvPr id="30" name="Oval 29"/>
          <p:cNvSpPr/>
          <p:nvPr/>
        </p:nvSpPr>
        <p:spPr>
          <a:xfrm>
            <a:off x="6635343" y="4334256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27951" y="4224528"/>
            <a:ext cx="429447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e.g. "never refund outside 7 days"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95604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12064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Most real systems are both: a graph on the outside, a model deciding inside one node.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Why LangGraph?  ·  Week 13  · 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WRAP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What you take forward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1801368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691640"/>
            <a:ext cx="1021659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The SDK and LangChain are the same machine: a model choosing tools in a loop.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2368296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2258568"/>
            <a:ext cx="1021659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Its one real limit: the control flow lives in the model. Fences can't fix a path.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2935224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2825496"/>
            <a:ext cx="1021659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State is a TypedDict; nodes are functions returning partial updates; edges are yours.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3502152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392424"/>
            <a:ext cx="1021659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A conditional edge is an if you can unit test. A back-edge is a loop — give it two exits.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4069080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3959352"/>
            <a:ext cx="1021659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Model for judgement, code for guarantees. That split is the whole design skill.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81888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98348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Next: create_agent rebuilt as a graph you can change, memory, and time travel.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28600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200" b="1" i="0">
                <a:solidFill>
                  <a:srgbClr val="F2F4FF"/>
                </a:solidFill>
                <a:latin typeface="Aptos"/>
              </a:rPr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474720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785615"/>
            <a:ext cx="8961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01_why_langgraph.ipynb — rerun Part 2 and count how often it breaks for you.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Exercise 2 is the one to do: try to fix it with a prompt, and see how close you get.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5394960"/>
            <a:ext cx="30031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“Is LangGraph replacing LangChain?”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4794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4250" y="5394960"/>
            <a:ext cx="30031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“Does every agent need a graph?”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1220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0676" y="5394960"/>
            <a:ext cx="30031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“What about speed and cost?”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LangGraph? — Week 13 Session 1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