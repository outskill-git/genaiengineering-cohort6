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 snapToObjects="1">
      <p:cViewPr varScale="1">
        <p:scale>
          <a:sx n="114" d="100"/>
          <a:sy n="114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60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(2 min). One sentence frame: last week you built an agent by hand; this week you get</a:t>
            </a:r>
          </a:p>
          <a:p>
            <a:r>
              <a:t>the same thing as a framework, and you'll recognise every part of it.</a:t>
            </a:r>
          </a:p>
          <a:p>
            <a:endParaRPr/>
          </a:p>
          <a:p>
            <a:r>
              <a:t>Ask who re-ran Week 10's notebook at home. The ones who did will get the most out of the</a:t>
            </a:r>
          </a:p>
          <a:p>
            <a:r>
              <a:t>mapping table in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 (2 min). Say why the SDK comes first, because someone will ask: it is the thinnest</a:t>
            </a:r>
          </a:p>
          <a:p>
            <a:r>
              <a:t>framework over exactly the loop they wrote, so it's the gentlest first abstraction.</a:t>
            </a:r>
          </a:p>
          <a:p>
            <a:r>
              <a:t>LangChain is a large component library; LangGraph is where serious agent control flow</a:t>
            </a:r>
          </a:p>
          <a:p>
            <a:r>
              <a:t>lives. We go small →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(1 min). Almost everything after 0:35 happens in 01_agents_sdk_foundations.ipynb.</a:t>
            </a:r>
          </a:p>
          <a:p>
            <a:r>
              <a:t>Slides mark the sections; the notebook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Put Week 10's run_agent() cell on screen next to this slide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BRIDGE (8 min). The most important slide of the day. Go row by row and, for each, say</a:t>
            </a:r>
          </a:p>
          <a:p>
            <a:r>
              <a:t>what they typed last week. The goal is that nobody experiences the SDK as magic.</a:t>
            </a:r>
          </a:p>
          <a:p>
            <a:endParaRPr/>
          </a:p>
          <a:p>
            <a:r>
              <a:t>Pause on the approval row and the summarise-and-drop row: those were ten-line features</a:t>
            </a:r>
          </a:p>
          <a:p>
            <a:r>
              <a:t>last week and they are one argument now. That's the value of a framework, stated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PRIMITIVES (6 min). Draw Agent and Runner as two boxes on the board, then attach the other</a:t>
            </a:r>
          </a:p>
          <a:p>
            <a:r>
              <a:t>four to them. Today covers Agent, Runner, Tools and Sessions. Tomorrow covers Handoffs and</a:t>
            </a:r>
          </a:p>
          <a:p>
            <a:r>
              <a:t>Guardrails.</a:t>
            </a:r>
          </a:p>
          <a:p>
            <a:endParaRPr/>
          </a:p>
          <a:p>
            <a:r>
              <a:t>The honest pitch for the SDK: it's small enough to hold in your head, and it's the most</a:t>
            </a:r>
          </a:p>
          <a:p>
            <a:r>
              <a:t>direct path from "an OpenAI call" to "an agent". The honest limitation: it's designed</a:t>
            </a:r>
          </a:p>
          <a:p>
            <a:r>
              <a:t>around OpenAI models first, although it can run others through LiteLLM.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LANDSCAPE (5 min). Pre-empt "which one should I use": it depends on how much control flow</a:t>
            </a:r>
          </a:p>
          <a:p>
            <a:r>
              <a:t>you want to draw yourself. The SDK lets the model drive; LangGraph makes you draw the graph.</a:t>
            </a:r>
          </a:p>
          <a:p>
            <a:r>
              <a:t>Most production teams end up using two of these, not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Open 01_agents_sdk_foundations.ipynb. Parts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1 (8 min). Run the first cell, then show_run(result). The trace shows one model call</a:t>
            </a:r>
          </a:p>
          <a:p>
            <a:r>
              <a:t>and no tools: pattern 1, the basic responder. Say that out loud; it stops people</a:t>
            </a:r>
          </a:p>
          <a:p>
            <a:r>
              <a:t>thinking the SDK made it "agentic".</a:t>
            </a:r>
          </a:p>
          <a:p>
            <a:endParaRPr/>
          </a:p>
          <a:p>
            <a:r>
              <a:t>The loop diagram on the right is Week 10's slide 16 in miniature.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2 (7 min). The six blocks from Week 10's system-prompt slide go straight into</a:t>
            </a:r>
          </a:p>
          <a:p>
            <a:r>
              <a:t>instructions: show CONCIERGE_RULES and point at each block.</a:t>
            </a:r>
          </a:p>
          <a:p>
            <a:endParaRPr/>
          </a:p>
          <a:p>
            <a:r>
              <a:t>The Diwali question is the moment to run live. The model answers today's date correctly</a:t>
            </a:r>
          </a:p>
          <a:p>
            <a:r>
              <a:t>and then confidently guesses a festival date. It's the cleanest demonstration of "the</a:t>
            </a:r>
          </a:p>
          <a:p>
            <a:r>
              <a:t>prompt only fixes what you put in it".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3 (6 min). Then Part 4, streaming, in two minutes: show tokens arriving,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Parts 5–8. The travel data is fake on purpose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TOOLS OVERVIEW (3 min). Set up the next four slides with this table. The point to make:</a:t>
            </a:r>
          </a:p>
          <a:p>
            <a:r>
              <a:t>four different mechanisms, one interface to the model.</a:t>
            </a:r>
          </a:p>
          <a:p>
            <a:endParaRPr/>
          </a:p>
          <a:p>
            <a:r>
              <a:t>Say plainly that flights, hotels and visas are simulated: small Python lists that the tools</a:t>
            </a:r>
          </a:p>
          <a:p>
            <a:r>
              <a:t>filter. Real APIs would only change the body of the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5 (8 min). Print search_flights.params_json_schema live and put Week 10's hand-written</a:t>
            </a:r>
          </a:p>
          <a:p>
            <a:r>
              <a:t>SEARCH_TOOL next to it. Same shape — generated.</a:t>
            </a:r>
          </a:p>
          <a:p>
            <a:endParaRPr/>
          </a:p>
          <a:p>
            <a:r>
              <a:t>Then run the flights+hotel question. It usually calls both tools in the same step:</a:t>
            </a:r>
          </a:p>
          <a:p>
            <a:r>
              <a:t>parallel tool calls, handled by the Runner with no extra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ERRORS (4 min). This is a real behaviour we saw while building the notebook: with the</a:t>
            </a:r>
          </a:p>
          <a:p>
            <a:r>
              <a:t>default error message, the model retried a dead tool. Run the cell and count the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MCP (6 min). The notebook writes a small FastMCP server with %%writefile, so it works in</a:t>
            </a:r>
          </a:p>
          <a:p>
            <a:r>
              <a:t>Colab too. Then one argument connects it.</a:t>
            </a:r>
          </a:p>
          <a:p>
            <a:endParaRPr/>
          </a:p>
          <a:p>
            <a:r>
              <a:t>If anyone installs mcp themselves: pin mcp&lt;2. mcp 2.x removed mcp.server.fastmcp</a:t>
            </a:r>
          </a:p>
          <a:p>
            <a:r>
              <a:t>(FastMCP was renamed to MCPServer). requirements.txt already pins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After the break. Notebook Parts 9–11.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SESSIONS (7 min). Run the four-turn conversation, then the fresh session that knows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 (7 min). This is the concept people most often get wrong. Context is dependency</a:t>
            </a:r>
          </a:p>
          <a:p>
            <a:r>
              <a:t>injection: a Python object handed to your tools and instruction functions. It is not sent</a:t>
            </a:r>
          </a:p>
          <a:p>
            <a:r>
              <a:t>to the model. The notebook proves it by searching everything the model was sent.</a:t>
            </a:r>
          </a:p>
          <a:p>
            <a:endParaRPr/>
          </a:p>
          <a:p>
            <a:r>
              <a:t>Security framing: if the model has to pass the user id back to a tool, a prompt injection</a:t>
            </a:r>
          </a:p>
          <a:p>
            <a:r>
              <a:t>can change it. If the tool reads it from context, it can't.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TRACING (6 min). Open the dashboard live. Then run the custom processor cell and read the</a:t>
            </a:r>
          </a:p>
          <a:p>
            <a:r>
              <a:t>span timings: the tools are instant, the model calls are the whole latency. That changes</a:t>
            </a:r>
          </a:p>
          <a:p>
            <a:r>
              <a:t>where you optimise — fewer turns, not faster functions.</a:t>
            </a:r>
          </a:p>
          <a:p>
            <a:endParaRPr/>
          </a:p>
          <a:p>
            <a:r>
              <a:t>Processors are how teams send traces to Langfuse, Datadog or their own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12 (5 min). Run it, open its trace, find the nested Visa Expert agent span.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GAPS (3 min). End on the observed failure: it offered to book despite its rules. That's</a:t>
            </a:r>
          </a:p>
          <a:p>
            <a:r>
              <a:t>the whole motivation for tomorrow — enforcement lives in code, not in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(2 min). Start from yesterday's observed failure: v1 offered to book although its</a:t>
            </a:r>
          </a:p>
          <a:p>
            <a:r>
              <a:t>instructions said it couldn't. Everything today is about moving enforcement out of the</a:t>
            </a:r>
          </a:p>
          <a:p>
            <a:r>
              <a:t>prompt and into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(1 min). Notebook 02 covers 0:10–2:15; notebook 03 is the voice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02, Parts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(4 min). Ask the room which of the four they'd hit first in their own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HANDOFFS (12 min). Run Part 2. Print RECOMMENDED_PROMPT_PREFIX once so they see it's</a:t>
            </a:r>
          </a:p>
          <a:p>
            <a:r>
              <a:t>just prompt text explaining the multi-agent setup.</a:t>
            </a:r>
          </a:p>
          <a:p>
            <a:endParaRPr/>
          </a:p>
          <a:p>
            <a:r>
              <a:t>The multi-turn cell is the one to linger on: result.last_agent keeps the conversation</a:t>
            </a:r>
          </a:p>
          <a:p>
            <a:r>
              <a:t>with the specialist. Remember this — it causes the guardrail trap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CUSTOMISE (6 min). The handoff log proves your code ran at the moment of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DECISION (15 min). The last row is real output. With handoffs, the request landed on the</a:t>
            </a:r>
          </a:p>
          <a:p>
            <a:r>
              <a:t>Flights Desk, which could only do a third of it and had nowhere to send the rest — so it</a:t>
            </a:r>
          </a:p>
          <a:p>
            <a:r>
              <a:t>called search_flights nine times until max_turns stopped it. Week 10's "looped on one</a:t>
            </a:r>
          </a:p>
          <a:p>
            <a:r>
              <a:t>tool", caused by design.</a:t>
            </a:r>
          </a:p>
          <a:p>
            <a:endParaRPr/>
          </a:p>
          <a:p>
            <a:r>
              <a:t>The fix is the same as Part 2: give desks a way back, and tell them what to do with</a:t>
            </a:r>
          </a:p>
          <a:p>
            <a:r>
              <a:t>requests outside their lane. Some runs give a partial answer instead of looping — show</a:t>
            </a:r>
          </a:p>
          <a:p>
            <a:r>
              <a:t>whichever you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Notebook 02, Part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GUARDRAILS (15 min). Run all four messages through the guarded desk. The guardrail detects;</a:t>
            </a:r>
          </a:p>
          <a:p>
            <a:r>
              <a:t>your code decides the response — a refusal, a redaction prompt, or a human.</a:t>
            </a:r>
          </a:p>
          <a:p>
            <a:endParaRPr/>
          </a:p>
          <a:p>
            <a:r>
              <a:t>The output guardrail demo uses an agent told to promise visas are guaranteed. It gets</a:t>
            </a:r>
          </a:p>
          <a:p>
            <a:r>
              <a:t>stopped before the traveller sees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FALSE POSITIVE (5 min). This is real output from building the notebook, and it's</a:t>
            </a:r>
          </a:p>
          <a:p>
            <a:r>
              <a:t>non-deterministic — you may or may not see it live. Either way, make the point: every</a:t>
            </a:r>
          </a:p>
          <a:p>
            <a:r>
              <a:t>LLM-based check is a classifier with a false-positive rate, and you only know it by</a:t>
            </a:r>
          </a:p>
          <a:p>
            <a:r>
              <a:t>measuring.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TRAPS (8 min) — the most valuable slide of the day. All three happened while building the</a:t>
            </a:r>
          </a:p>
          <a:p>
            <a:r>
              <a:t>capstone, and the code looked protected every time.</a:t>
            </a:r>
          </a:p>
          <a:p>
            <a:endParaRPr/>
          </a:p>
          <a:p>
            <a:r>
              <a:t>Trap 1 is the one to hammer. The multi-turn pattern from Part 2 is correct and efficient —</a:t>
            </a:r>
          </a:p>
          <a:p>
            <a:r>
              <a:t>and it silently skips your front door. Security checks belong wherever a turn can begin,</a:t>
            </a:r>
          </a:p>
          <a:p>
            <a:r>
              <a:t>not where you'd like conversations to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TRANSITION. After the break. Notebook 02 Parts 6–7, then notebook 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APPROVALS (12 min). Run the approval cell and answer y, then n on a second run. Then the</a:t>
            </a:r>
          </a:p>
          <a:p>
            <a:r>
              <a:t>serialise cell: a 10 KB string is the whole paused run — that's what makes Slack-button</a:t>
            </a:r>
          </a:p>
          <a:p>
            <a:r>
              <a:t>approvals possible.</a:t>
            </a:r>
          </a:p>
          <a:p>
            <a:endParaRPr/>
          </a:p>
          <a:p>
            <a:r>
              <a:t>The last bullet is a real lesson: with vague instructions the model asked for confirmation</a:t>
            </a:r>
          </a:p>
          <a:p>
            <a:r>
              <a:t>in chat instead of calling the tool, so the gate never fired.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CONDITIONAL (5 min). Every gate costs latency and goodwill. Buy them where there's no 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CAPSTONE (15 min). Run it, answer y at the approval, then open its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 (8 min). No microphone needed: the notebook generates the traveller's question with</a:t>
            </a:r>
          </a:p>
          <a:p>
            <a:r>
              <a:t>TTS. voice_live.py does it from a real mic for your own demo.</a:t>
            </a:r>
          </a:p>
          <a:p>
            <a:endParaRPr/>
          </a:p>
          <a:p>
            <a:r>
              <a:t>Play the question, then the answer. The reply says "six thirty in the evening" and "three</a:t>
            </a:r>
          </a:p>
          <a:p>
            <a:r>
              <a:t>thousand eight hundred and ninety rupees" because of the voice rules in the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LATENCY (5 min). This is honest measured output. The lesson: chained voice is simple and</a:t>
            </a:r>
          </a:p>
          <a:p>
            <a:r>
              <a:t>inspectable but slow; gpt-realtime via RealtimeAgent is fast but needs live audio streams</a:t>
            </a:r>
          </a:p>
          <a:p>
            <a:r>
              <a:t>(browser or phone) and is harder to guard. Pick by latency tolerance.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(3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  ·  SESSION 1 OF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OpenAI Agents SDK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The loop you built last week, packaged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Six primitives, one travel concierge, built live from an empty notebook.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Session 2 tomorrow: multi-agent, guardrails, approvals — and voice.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THE ARC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Where this 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Last week you built the loop by hand. From here on, frameworks hide it — and you know what they hide.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2526715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67712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96896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Agentic AI +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64992"/>
            <a:ext cx="2051227" cy="716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 dirty="0">
                <a:solidFill>
                  <a:srgbClr val="9AA3C4"/>
                </a:solidFill>
                <a:latin typeface="Aptos"/>
              </a:rPr>
              <a:t>· The loop, by hand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 dirty="0">
                <a:solidFill>
                  <a:srgbClr val="9AA3C4"/>
                </a:solidFill>
                <a:latin typeface="Aptos"/>
              </a:rPr>
              <a:t>· Patterns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 dirty="0">
                <a:solidFill>
                  <a:srgbClr val="9AA3C4"/>
                </a:solidFill>
                <a:latin typeface="Aptos"/>
              </a:rPr>
              <a:t>· MCP + </a:t>
            </a:r>
            <a:r>
              <a:rPr sz="1100" b="0" i="0" dirty="0" err="1">
                <a:solidFill>
                  <a:srgbClr val="9AA3C4"/>
                </a:solidFill>
                <a:latin typeface="Aptos"/>
              </a:rPr>
              <a:t>FastMCP</a:t>
            </a:r>
            <a:endParaRPr sz="1100" b="0" i="0" dirty="0">
              <a:solidFill>
                <a:srgbClr val="9AA3C4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6112" y="4498848"/>
            <a:ext cx="544980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DONE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3371" y="3456432"/>
            <a:ext cx="20116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41115" y="1993392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41115" y="1993392"/>
            <a:ext cx="2526715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78859" y="2267712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WEEK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8859" y="2596896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OpenAI Agents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8859" y="3364992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The loop, packaged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Multi-agent, guardrails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Approvals, voice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8859" y="4498848"/>
            <a:ext cx="1159452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A78BFA"/>
                </a:solidFill>
                <a:latin typeface="Aptos"/>
              </a:rPr>
              <a:t>YOU ARE HERE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6118" y="3456432"/>
            <a:ext cx="20116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23862" y="1993392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23862" y="1993392"/>
            <a:ext cx="2526715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1606" y="2267712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6" y="2596896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LangChain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606" y="3364992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Components, LCEL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create_agent, RAG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LangChain + MCP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68865" y="3456432"/>
            <a:ext cx="201168" cy="0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06609" y="1993392"/>
            <a:ext cx="2526715" cy="3017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06609" y="1993392"/>
            <a:ext cx="252671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44353" y="2267712"/>
            <a:ext cx="205122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353" y="2596896"/>
            <a:ext cx="20512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1" i="0">
                <a:solidFill>
                  <a:srgbClr val="F2F4FF"/>
                </a:solidFill>
                <a:latin typeface="Aptos"/>
              </a:rPr>
              <a:t>LangGraph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353" y="3364992"/>
            <a:ext cx="205122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State, nodes, edges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Interrupts, memory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· Teams of agents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285232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2688" y="5449824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Why this order: the SDK is the smallest possible step from your hand-written loop. LangChain v1 then leads straight into LangGraph.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AGENDA ·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3810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550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The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733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15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733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Week 10 → SDK, one row at a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1396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139696"/>
            <a:ext cx="38100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3134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0:15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951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What the SDK 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3134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3134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Six primitives, and where it sits next to LangChain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7977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95351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0:35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93522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Hands-on 1 · one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953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95351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Agent + Runner, instructions, structured output, streaming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1985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3419856"/>
            <a:ext cx="38100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5935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1:05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57530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Hands-on 2 ·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5935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59359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Function tools, hosted tools, agents as tools, MCP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5993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4059936"/>
            <a:ext cx="38100" cy="566928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42153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2336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23367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8368" y="470001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4700016"/>
            <a:ext cx="381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" y="48737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1:50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85546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Hands-on 3 · memory and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8737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25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87375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Sessions, multi-turn, context vs prompt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40096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5340096"/>
            <a:ext cx="3810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55138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2:15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49554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Tracing, and what's missing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5138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15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51383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dashboard, a custom processor, tomorrow's gaps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You already built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Every part of the Agents SDK has a twin in last week's notebook.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BRIDGE · 15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Week 10, row by 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27048"/>
            <a:ext cx="43161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YOU WROTE THIS IN WEEK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826" y="1527048"/>
            <a:ext cx="431612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THE AGENTS SDK GIVES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4116" y="1527048"/>
            <a:ext cx="163920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WHERE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37944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run_agent() while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826" y="1965960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Runner.run()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4116" y="1965960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368296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TOOLS schema + DISPATCH 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826" y="2368296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@function_tool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4116" y="2368296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642616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2770632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max_steps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826" y="2770632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max_turns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4116" y="2770632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172968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messages list / Conversation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826" y="3172968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4116" y="3172968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47288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575304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your trace() printer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826" y="3575304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built-in tracing + processors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4116" y="3575304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977640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to_openai() + call_tool() MCP bridge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76826" y="3977640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mcp_servers=[...]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4116" y="3977640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251960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" y="4379976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input() gate on send_email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826" y="4379976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needs_approval=True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4116" y="4379976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tomorrow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4782312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router / multi-agent patterns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6826" y="4782312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handoffs · agents as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4116" y="4782312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tomorrow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56632"/>
            <a:ext cx="10874959" cy="402336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9536" y="5184648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summarise-and-drop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826" y="5184648"/>
            <a:ext cx="411495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OpenAIResponsesCompactionSession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4116" y="5184648"/>
            <a:ext cx="143804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Part 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568696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" y="5733288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Nothing here is new. It's the same loop — with the plumbing done for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WHAT THE SDK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Six primitives, and a 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Deliberately small. If you learn these six, you've learned the SDK.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6112" y="2212848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2187448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AGENT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an LLM + instructions + tools. The *what*.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975104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12538" y="2212848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1410" y="2187448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RUNNER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loop: call model, run tools, repeat, stop. The *how*.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1220" y="1975104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8964" y="2212848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7836" y="2187448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TOOLS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your functions, hosted tools, other agents, MCP servers.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19856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" y="3657600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984" y="3632200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HANDOFFS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transfer the conversation to another agent.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4794" y="3419856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12538" y="3657600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31410" y="3632200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GUARDRAILS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checks that run alongside and can stop a run.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1220" y="3419856"/>
            <a:ext cx="3442106" cy="126187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8964" y="3657600"/>
            <a:ext cx="38100" cy="165100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47836" y="3632200"/>
            <a:ext cx="284774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9AA3C4"/>
                </a:solidFill>
                <a:latin typeface="Aptos"/>
              </a:rPr>
              <a:t>SESSIONS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memory across turns, stored for you.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9262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157216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+ Tracing on by default: every model call, tool call and handoff, recorded and viewable at platform.openai.com/traces.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AN HONEST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Where it 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16455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06227" y="1618488"/>
            <a:ext cx="226108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OPENAI AGENTS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8481" y="1618488"/>
            <a:ext cx="21584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LANGCHAIN (V1)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8141" y="1618488"/>
            <a:ext cx="205589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LANGGRAPH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5207" y="1618488"/>
            <a:ext cx="174811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CREWAI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29384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057400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Mental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227" y="2057400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agents + a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8481" y="2057400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components + create_agent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8141" y="2057400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 state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5207" y="2057400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 crew of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2569464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227" y="2569464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small (~6 ideas)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8481" y="2569464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large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8141" y="2569464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medium, low-level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5207" y="2569464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small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953512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3081528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Control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6227" y="3081528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model-driven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8481" y="3081528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model-driven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8141" y="3081528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you draw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5207" y="3081528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process-driven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593592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Best 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6227" y="3593592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fast path from API to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8481" y="3593592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integrations, RAG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8141" y="3593592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complex, durable 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5207" y="3593592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role-play teams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977640"/>
            <a:ext cx="10874959" cy="512064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6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6227" y="4105656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OpenAI first, others via LiteLLM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8481" y="4105656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8141" y="4105656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any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5207" y="4105656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4617720"/>
            <a:ext cx="144435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2F4FF"/>
                </a:solidFill>
                <a:latin typeface="Aptos"/>
              </a:rPr>
              <a:t>We cover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06227" y="4617720"/>
            <a:ext cx="205991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this week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8481" y="4617720"/>
            <a:ext cx="19573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next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8141" y="4617720"/>
            <a:ext cx="185473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after that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5207" y="4617720"/>
            <a:ext cx="154694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A3C4"/>
                </a:solidFill>
                <a:latin typeface="Aptos"/>
              </a:rPr>
              <a:t>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1846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2688" y="53492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Same agent loop underneath all four. You're choosing ergonomics, not a different idea.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One agent, done properly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Agent, Runner, instructions, structured output, streaming.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HANDS-ON 1 · 30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Agent is the what. Runner is the how.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from agents import Agent, Runner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concierge = Agent(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name="Travel Concierge",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instructions="You are a travel concierge...",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model="gpt-4.1-mini",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tools=[search_flights, search_hotels],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result = await Runner.run(concierge, "Goa on 2 Oct?")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print(result.final_output)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590288"/>
            <a:ext cx="5208879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718304"/>
            <a:ext cx="46968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 i="0">
                <a:solidFill>
                  <a:srgbClr val="9AA3C4"/>
                </a:solidFill>
                <a:latin typeface="Consolas"/>
              </a:rPr>
              <a:t>In a notebook: await Runner.run(...)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 i="0">
                <a:solidFill>
                  <a:srgbClr val="9AA3C4"/>
                </a:solidFill>
                <a:latin typeface="Consolas"/>
              </a:rPr>
              <a:t>In a script: Runner.run_sync(...)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0" i="0">
                <a:solidFill>
                  <a:srgbClr val="9AA3C4"/>
                </a:solidFill>
                <a:latin typeface="Consolas"/>
              </a:rPr>
              <a:t>Streaming: Runner.run_streamed(...)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RUNNER.RUN DOES — YOUR WEEK 10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7367" y="2121408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call the model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47607" y="2688336"/>
            <a:ext cx="0" cy="301752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27367" y="2990088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run the tools it asked for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47607" y="3557016"/>
            <a:ext cx="0" cy="301752"/>
          </a:xfrm>
          <a:prstGeom prst="line">
            <a:avLst/>
          </a:prstGeom>
          <a:ln w="15875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27367" y="3858768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append the results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67847" y="3273552"/>
            <a:ext cx="384048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051895" y="3273552"/>
            <a:ext cx="0" cy="1426464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443319" y="4700016"/>
            <a:ext cx="4608576" cy="0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43319" y="3273552"/>
            <a:ext cx="0" cy="1426464"/>
          </a:xfrm>
          <a:prstGeom prst="line">
            <a:avLst/>
          </a:prstGeom>
          <a:ln w="19050">
            <a:solidFill>
              <a:srgbClr val="FB71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43319" y="3273552"/>
            <a:ext cx="384048" cy="0"/>
          </a:xfrm>
          <a:prstGeom prst="line">
            <a:avLst/>
          </a:prstGeom>
          <a:ln w="19050">
            <a:solidFill>
              <a:srgbClr val="FB71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27367" y="493776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repeat until a final answer — or max_turns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2 · DYNAMIC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Instructions can be a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2860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def concierge_instructions(ctx, agent)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today = datetime.now().strftime("%d %B %Y")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return f"Today is {today}.\n\n{RULES}"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concierge = Agent(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instructions=concierge_instructions,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2860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8767" y="1883664"/>
            <a:ext cx="466023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Week 10's wall, fixed without a tool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couldn't tell you today's date. Now the date is in the prompt on every turn, recomputed each time.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Put what you already know into the instructions. Use a tool for what you have to go and fetch.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178808"/>
            <a:ext cx="10874959" cy="12801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361688"/>
            <a:ext cx="103263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Try it live: "How many days until Diwali?"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 gets today right — and has to guess Diwali's date, and may guess wrong. The prompt fixed the fact you supplied. It did nothing for the one you didn't.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PART 3 · STRUCTURED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An answer, or 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8346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class TripIdea(BaseModel):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destination: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best_month: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nights: int = Field(ge=1, le=14)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three_things_to_do: list[str]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rough_budget_inr: 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planner = Agent(..., output_type=TripIdea)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idea = (await Runner.run(planner, q)).final_output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idea.nights      # an int,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WEEK 10 → WEEK 11</a:t>
            </a:r>
          </a:p>
        </p:txBody>
      </p:sp>
      <p:sp>
        <p:nvSpPr>
          <p:cNvPr id="11" name="Oval 10"/>
          <p:cNvSpPr/>
          <p:nvPr/>
        </p:nvSpPr>
        <p:spPr>
          <a:xfrm>
            <a:off x="6324447" y="212140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055" y="2011680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Week 10's OUTPUT CONTRACT block asked for a format. output_type enforces one.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724912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7055" y="2615184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final_output comes back as a typed Python object — no parsing, no regex.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3328416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7055" y="3218688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Field constraints (ge, le) are validated, so bad output fails loudly.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393192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7055" y="3822192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Downstream code, a UI or another agent can consume it without guessing.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274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8920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Use output_type whenever code — not a human — reads the answer.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Four kinds of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Your functions, OpenAI's hosted tools, other agents, and MCP servers.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HANDS-ON 2 · 30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5–8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Four kinds of tools, one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184588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KIND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6587" y="1618488"/>
            <a:ext cx="325323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HOW YOU ADD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0985" y="1618488"/>
            <a:ext cx="19738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WHO RUNS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5976" y="1618488"/>
            <a:ext cx="299734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OUR CONCIERGE USES IT FOR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9384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057400"/>
            <a:ext cx="16447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Function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6587" y="2057400"/>
            <a:ext cx="30520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@function_tool on a Python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0985" y="2057400"/>
            <a:ext cx="17726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your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5976" y="2057400"/>
            <a:ext cx="279618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search_flights, search_hotels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624328"/>
            <a:ext cx="16447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Hosted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6587" y="2624328"/>
            <a:ext cx="30520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WebSearchTool(), FileSearchTool()...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0985" y="2624328"/>
            <a:ext cx="17726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OpenAI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5976" y="2624328"/>
            <a:ext cx="279618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live weather — no Tavily key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63240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191256"/>
            <a:ext cx="16447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Agent as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6587" y="3191256"/>
            <a:ext cx="30520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specialist.as_tool(...)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0985" y="3191256"/>
            <a:ext cx="17726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another agent's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5976" y="3191256"/>
            <a:ext cx="279618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visa expert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758184"/>
            <a:ext cx="164471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MCP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587" y="3758184"/>
            <a:ext cx="305206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mcp_servers=[server]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0985" y="3758184"/>
            <a:ext cx="177265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separate 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5976" y="3758184"/>
            <a:ext cx="279618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currency and plug-type facts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471416"/>
            <a:ext cx="10874959" cy="10972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4636008"/>
            <a:ext cx="103263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model can't tell them apart.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Each is a name, a description and a JSON schema — the three things you put in Week 10's SEARCH_TOOL dict. Who executes it is invisible to the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5 · @FUNCTION_TOOL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Your docstring is the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52545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YOU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25459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48256"/>
            <a:ext cx="479739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@function_tool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search_flights(origin: str,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destination: str,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       date: str)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"""Search flights between two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airports on a given date.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Args: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origin: IATA code, e.g. "BLR".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destination: IATA code, e.g. "GOI".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date: YYYY-MM-DD.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"""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591056"/>
            <a:ext cx="52545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THE MODEL RECEIVES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865376"/>
            <a:ext cx="5254599" cy="27432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6471" y="2048256"/>
            <a:ext cx="479739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"name": "search_flights",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"description": "Search flights between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two airports on a given date.",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"parameters": {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"origin": {"type": "string",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"description": "IATA code, e.g. BLR"},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"destination": {...},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"date": {...},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"required": [origin, destination, date],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"additionalProperties": false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188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98348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Type hints become the schema. The docstring — including every Args: line — becomes the description. A lazy docstring is a lazy prompt.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5 ·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When a tool fails, the SDK says "try again"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13716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@function_tool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def live_hotel_price(hotel_id: str) -&gt; str: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raise TimeoutError("pricing API down")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868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THE MODEL IS TOLD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493008"/>
            <a:ext cx="5208879" cy="10972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675888"/>
            <a:ext cx="473339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"An error occurred while running the tool. Please try again. Error: pricing API down"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HAPPENED LIVE</a:t>
            </a:r>
          </a:p>
        </p:txBody>
      </p:sp>
      <p:sp>
        <p:nvSpPr>
          <p:cNvPr id="14" name="Oval 13"/>
          <p:cNvSpPr/>
          <p:nvPr/>
        </p:nvSpPr>
        <p:spPr>
          <a:xfrm>
            <a:off x="6324447" y="212140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7055" y="2011680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took "Please try again" literally and called the dead API twice.</a:t>
            </a:r>
          </a:p>
        </p:txBody>
      </p:sp>
      <p:sp>
        <p:nvSpPr>
          <p:cNvPr id="16" name="Oval 15"/>
          <p:cNvSpPr/>
          <p:nvPr/>
        </p:nvSpPr>
        <p:spPr>
          <a:xfrm>
            <a:off x="6324447" y="272491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7055" y="2615184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Against a flaky service, that's a retry loop you pay for.</a:t>
            </a:r>
          </a:p>
        </p:txBody>
      </p:sp>
      <p:sp>
        <p:nvSpPr>
          <p:cNvPr id="18" name="Oval 17"/>
          <p:cNvSpPr/>
          <p:nvPr/>
        </p:nvSpPr>
        <p:spPr>
          <a:xfrm>
            <a:off x="6324447" y="332841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7055" y="3218688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Fix 1: catch errors inside your tool and return what to do next.</a:t>
            </a:r>
          </a:p>
        </p:txBody>
      </p:sp>
      <p:sp>
        <p:nvSpPr>
          <p:cNvPr id="20" name="Oval 19"/>
          <p:cNvSpPr/>
          <p:nvPr/>
        </p:nvSpPr>
        <p:spPr>
          <a:xfrm>
            <a:off x="6324447" y="393192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17055" y="3822192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Fix 2: pass failure_error_function= to control the message.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188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8348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Week 10's lesson, unchanged: the agent reads your error message. Write it on purpose.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MCP in one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WEEK 10 — YOU WROTE THE 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236311" cy="2377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48256"/>
            <a:ext cx="477911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listed = (await s.list_tools()).tools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TOOLS  = to_openai(listed)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...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for call in reply.tool_calls: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res = await s.call_tool(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call.function.name, args)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messages.append(tool_msg(res))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7015" y="1591056"/>
            <a:ext cx="52363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WEEK 11 — THE SDK DOES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7015" y="1865376"/>
            <a:ext cx="5236311" cy="23774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4759" y="2048256"/>
            <a:ext cx="477911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async with MCPServerStdio(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params={"command": sys.executable,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    "args": ["travel_mcp_server.py"]},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) as travel_facts: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agent = Agent(...,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  mcp_servers=[travel_facts])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9884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663440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Same FastMCP server as last week. Function tools and MCP tools sit side by side; remote servers use MCPServerStreamableHttp.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59E0B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Memory, context and tracing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Sessions remember. Context stays hidden. Traces show you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HANDS-ON 3 · 25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Sessions: your Conversation class, packaged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945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from agents import SQLiteSession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trip = SQLiteSession("asha-goa-trip")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await Runner.run(concierge,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"Flights BLR to Goa, 2 Oct?", session=trip)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await Runner.run(concierge,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"Which of those is in the afternoon?", session=trip)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TO KNOW</a:t>
            </a:r>
          </a:p>
        </p:txBody>
      </p:sp>
      <p:sp>
        <p:nvSpPr>
          <p:cNvPr id="11" name="Oval 10"/>
          <p:cNvSpPr/>
          <p:nvPr/>
        </p:nvSpPr>
        <p:spPr>
          <a:xfrm>
            <a:off x="6324447" y="2121408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055" y="2011680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"Which of those" only works because the session replays history.</a:t>
            </a:r>
          </a:p>
        </p:txBody>
      </p:sp>
      <p:sp>
        <p:nvSpPr>
          <p:cNvPr id="13" name="Oval 12"/>
          <p:cNvSpPr/>
          <p:nvPr/>
        </p:nvSpPr>
        <p:spPr>
          <a:xfrm>
            <a:off x="6324447" y="2724912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7055" y="2615184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Add a path — SQLiteSession("id", "trips.db") — and it survives restarts.</a:t>
            </a:r>
          </a:p>
        </p:txBody>
      </p:sp>
      <p:sp>
        <p:nvSpPr>
          <p:cNvPr id="15" name="Oval 14"/>
          <p:cNvSpPr/>
          <p:nvPr/>
        </p:nvSpPr>
        <p:spPr>
          <a:xfrm>
            <a:off x="6324447" y="3328416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7055" y="3218688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Redis, SQLAlchemy and OpenAI-hosted sessions exist too.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3931920"/>
            <a:ext cx="63500" cy="635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7055" y="3822192"/>
            <a:ext cx="4916271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stored item is re-sent every turn: Week 10's context budget.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988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6634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OpenAIResponsesCompactionSession = Week 10's summarise-and-drop, as a drop-in.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Context is for your code, not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6517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@dataclass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class Traveller: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name: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budget_per_night_inr: int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loyalty_id: str      # sensitive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@function_tool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my_profile(ctx: RunContextWrapper[Traveller]):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return f"{ctx.context.name} ..."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Runner.run(agent, q, context=asha)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755648"/>
            <a:ext cx="5208879" cy="64008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context  (Traveller object)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807208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your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41686" y="2807208"/>
            <a:ext cx="1691640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the 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70267" y="2395728"/>
            <a:ext cx="0" cy="411480"/>
          </a:xfrm>
          <a:prstGeom prst="line">
            <a:avLst/>
          </a:prstGeom>
          <a:ln w="1905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841686" y="246888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never sees 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16087" y="3127248"/>
            <a:ext cx="1825599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16087" y="2871216"/>
            <a:ext cx="18255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666E94"/>
                </a:solidFill>
                <a:latin typeface="Aptos"/>
              </a:rPr>
              <a:t>only what tools return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7" y="3675888"/>
            <a:ext cx="520887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3903" y="3803904"/>
            <a:ext cx="47699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2F4FF"/>
                </a:solidFill>
                <a:latin typeface="Consolas"/>
              </a:rPr>
              <a:t>Live check: loyalty id in prompt → False. In conversation → False.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9028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75488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User ids, auth tokens, DB connections: inject them as context. Never ask the model to carry them.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Tracing: every run, recorded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146304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with trace("Asha plans Goa"):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await Runner.run(agent, turn1, ...)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await Runner.run(agent, turn2, ...)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-&gt; platform.openai.com/traces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10128"/>
            <a:ext cx="5208879" cy="16459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493008"/>
            <a:ext cx="475167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class PrintSpans(TracingProcessor):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def on_span_end(self, span): ...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add_trace_processor(PrintSpans())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666E94"/>
                </a:solidFill>
                <a:latin typeface="Consolas"/>
              </a:rPr>
              <a:t># your Week 10 trace(), as a plugin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1664208"/>
            <a:ext cx="52088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OUR PROCESSOR PRINTED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938528"/>
            <a:ext cx="5208879" cy="30175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2191" y="2121408"/>
            <a:ext cx="475167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┌─ trace: Asha checks Dubai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Response                1515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Function my_profile        1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Response                1368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Function check_visa        1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Function search_flights    1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Response                1849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│  Agent    Personal Concierge 4741 ms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└─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18464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534924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Tools took 1 ms. The model took 4.7 s. Now you know where to optimise.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Concierge v1: everything from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1664208"/>
            <a:ext cx="3017520" cy="82296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Travel Concierge v1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(dynamic instructions)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my_profile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context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511274" y="2487168"/>
            <a:ext cx="4587774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92197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search_flights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function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345103" y="2487168"/>
            <a:ext cx="2753945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26026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search_hotels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function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178932" y="2487168"/>
            <a:ext cx="920116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59855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ask_visa_expert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agent as tool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2487168"/>
            <a:ext cx="913713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93684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WebSearchTool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hosted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2487168"/>
            <a:ext cx="2747542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7513" y="3172968"/>
            <a:ext cx="1705813" cy="71323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travel-facts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2F4FF"/>
                </a:solidFill>
                <a:latin typeface="Aptos"/>
              </a:rPr>
              <a:t>MCP server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2487168"/>
            <a:ext cx="4581371" cy="685800"/>
          </a:xfrm>
          <a:prstGeom prst="line">
            <a:avLst/>
          </a:prstGeom>
          <a:ln w="1270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417880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29768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+ SQLiteSession for memory  ·  Traveller context  ·  one trace  ·  max_turns=12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5604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12064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Live run: 7 model calls, a nested specialist loop, MCP and memory — in one question.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What v1 still can't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In the live run, it offered to book — although its rules say it can't. Instructions are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2996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029968"/>
            <a:ext cx="2540431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2860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It offered to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45536"/>
            <a:ext cx="21015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Human approval: needs_approval, pause, resume.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6543" y="202996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36543" y="2029968"/>
            <a:ext cx="2540431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5999" y="22860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It accepts a passport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5999" y="3145536"/>
            <a:ext cx="21015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Input guardrails that trip before the agent runs.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8" y="202996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4718" y="2029968"/>
            <a:ext cx="2540431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4174" y="22860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It would write your essay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4174" y="3145536"/>
            <a:ext cx="21015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topic guardrail — which needs its own evals.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93" y="2029968"/>
            <a:ext cx="2540431" cy="237744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93" y="2029968"/>
            <a:ext cx="2540431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2349" y="2286000"/>
            <a:ext cx="21015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Every tool in one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2349" y="3145536"/>
            <a:ext cx="21015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Specialist desks and handoffs.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68172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84632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…and tomorrow it gets a voice.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01_agents_sdk_foundations.ipynb has everything from today, plus five exercises.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Before tomorrow: add one tool of your own, and break one docstring on purpose.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“Can I use Claude or Gemini with it?”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“SDK or LangChain for my project?”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“What does a run like this cost?”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68580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2220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0625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030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74352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68580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42448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26496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210544" y="685800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0625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29030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74352" y="106984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0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42448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26496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10544" y="1069848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3816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2220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0625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90304" y="145389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74352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42448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26496" y="1453896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10544" y="145389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3816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2220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06256" y="183794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9030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74352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58400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42448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826496" y="183794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210544" y="1837944"/>
            <a:ext cx="63500" cy="63500"/>
          </a:xfrm>
          <a:prstGeom prst="ellipse">
            <a:avLst/>
          </a:prstGeom>
          <a:solidFill>
            <a:srgbClr val="3A4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084831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WEEK 11  ·  SESSION 2 OF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48716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F2F4FF"/>
                </a:solidFill>
                <a:latin typeface="Aptos"/>
              </a:rPr>
              <a:t>From one agent to a team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4600" b="1" i="0">
                <a:solidFill>
                  <a:srgbClr val="9AA3C4"/>
                </a:solidFill>
                <a:latin typeface="Aptos"/>
              </a:rPr>
              <a:t>Handoffs, guardrails, human approval — and a voice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4590288"/>
            <a:ext cx="14630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" y="4901184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Yesterday's concierge, made safe enough to trust with a booking.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Notebooks: 02_multi_agent_guardrails · 03_voice_concierge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AGENDA · SESSION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Two and a half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38100" cy="530352"/>
          </a:xfrm>
          <a:prstGeom prst="rect">
            <a:avLst/>
          </a:prstGeom>
          <a:solidFill>
            <a:srgbClr val="9A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36776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9AA3C4"/>
                </a:solidFill>
                <a:latin typeface="Aptos"/>
              </a:rPr>
              <a:t>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1848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Recap: v1's four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367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Consolas"/>
              </a:rP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636776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What yesterday's concierge got wrong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66544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066544"/>
            <a:ext cx="38100" cy="5303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22199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20370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Handoffs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2219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30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22199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Specialist desks, multi-turn, customised handoffs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651760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2651760"/>
            <a:ext cx="38100" cy="5303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80720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ptos"/>
              </a:rPr>
              <a:t>0:40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78892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Handoff or agent-as-tool?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8072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4D399"/>
                </a:solidFill>
                <a:latin typeface="Consolas"/>
              </a:rPr>
              <a:t>15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807208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main design decision — with a live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236976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3236976"/>
            <a:ext cx="3810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392424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Aptos"/>
              </a:rPr>
              <a:t>0:55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37413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33924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59E0B"/>
                </a:solidFill>
                <a:latin typeface="Consolas"/>
              </a:rPr>
              <a:t>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3392424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Input, output and tool guardrails, and three traps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3822192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3822192"/>
            <a:ext cx="38100" cy="530352"/>
          </a:xfrm>
          <a:prstGeom prst="rect">
            <a:avLst/>
          </a:prstGeom>
          <a:solidFill>
            <a:srgbClr val="66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97764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666E94"/>
                </a:solidFill>
                <a:latin typeface="Aptos"/>
              </a:rPr>
              <a:t>1:25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395935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39776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66E94"/>
                </a:solidFill>
                <a:latin typeface="Consolas"/>
              </a:rPr>
              <a:t>15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977640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8368" y="4407408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4407408"/>
            <a:ext cx="38100" cy="530352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" y="4562856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B7185"/>
                </a:solidFill>
                <a:latin typeface="Aptos"/>
              </a:rPr>
              <a:t>1:40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4544568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Human 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456285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FB7185"/>
                </a:solidFill>
                <a:latin typeface="Consolas"/>
              </a:rPr>
              <a:t>20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4562856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Pause, approve, resume — hours later if needed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992624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4992624"/>
            <a:ext cx="38100" cy="53035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51480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A78BFA"/>
                </a:solidFill>
                <a:latin typeface="Aptos"/>
              </a:rPr>
              <a:t>2:00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55648" y="51297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Capstone: Concierge v2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514807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A78BFA"/>
                </a:solidFill>
                <a:latin typeface="Consolas"/>
              </a:rPr>
              <a:t>15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148072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Everything from both days, in one system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577840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8368" y="5577840"/>
            <a:ext cx="38100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6112" y="573328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Aptos"/>
              </a:rPr>
              <a:t>2:15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55648" y="57150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2F4FF"/>
                </a:solidFill>
                <a:latin typeface="Aptos"/>
              </a:rPr>
              <a:t>Voice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0368" y="57332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22D3EE"/>
                </a:solidFill>
                <a:latin typeface="Consolas"/>
              </a:rPr>
              <a:t>15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5733288"/>
            <a:ext cx="51142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Speech APIs, VoicePipeline, and why realtime exists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34D399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One agent becomes a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Small specialists, each with a narrow prompt and only the tools it needs.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HANDOFFS · 45 MINUTES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Why split one agent into several?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33856"/>
            <a:ext cx="10692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Fine at five tools. At fifty it breaks, for reasons you met in Week 10.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29968"/>
            <a:ext cx="2540431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7824" y="2249424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6" y="2224024"/>
            <a:ext cx="1982647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TOOL CHOICE DEGRADES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More tools, more similar descriptions to confuse.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2029968"/>
            <a:ext cx="2540431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5999" y="2249424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4871" y="2224024"/>
            <a:ext cx="1982647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CONTEXT BLOATS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Every tool schema is re-sent on every single turn.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029968"/>
            <a:ext cx="2540431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34174" y="2249424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3046" y="2224024"/>
            <a:ext cx="1982647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INSTRUCTIONS CONFLICT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"Be brief" for flights, "be thorough" for visas, in one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2893" y="2029968"/>
            <a:ext cx="2540431" cy="20116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12349" y="2249424"/>
            <a:ext cx="38100" cy="165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1221" y="2224024"/>
            <a:ext cx="1982647" cy="1572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22D3EE"/>
                </a:solidFill>
                <a:latin typeface="Aptos"/>
              </a:rPr>
              <a:t>OWNERSHIP BLURS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When it's wrong, whose prompt do you fix?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1596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48056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The fix is Week 10's multi-agent rung: a front desk and specialist desks.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handoff transfers the conversation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578608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Front Desk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(routes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50208" y="1755648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Flights Desk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search · book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944368" y="2121408"/>
            <a:ext cx="1005840" cy="868680"/>
          </a:xfrm>
          <a:prstGeom prst="line">
            <a:avLst/>
          </a:prstGeom>
          <a:ln w="1524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50208" y="2715768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Hotels Desk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search · book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44368" y="2990088"/>
            <a:ext cx="1005840" cy="91440"/>
          </a:xfrm>
          <a:prstGeom prst="line">
            <a:avLst/>
          </a:prstGeom>
          <a:ln w="1524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50208" y="3675888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Visa Desk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check_visa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44368" y="2990088"/>
            <a:ext cx="1005840" cy="1051560"/>
          </a:xfrm>
          <a:prstGeom prst="line">
            <a:avLst/>
          </a:prstGeom>
          <a:ln w="1524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353872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Aptos"/>
              </a:rPr>
              <a:t>transfer_to_&lt;desk&gt;()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709928"/>
            <a:ext cx="49313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WHAT TO KNOW</a:t>
            </a:r>
          </a:p>
        </p:txBody>
      </p:sp>
      <p:sp>
        <p:nvSpPr>
          <p:cNvPr id="17" name="Oval 16"/>
          <p:cNvSpPr/>
          <p:nvPr/>
        </p:nvSpPr>
        <p:spPr>
          <a:xfrm>
            <a:off x="6601968" y="212140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94576" y="2011680"/>
            <a:ext cx="46387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 handoff is just a tool named transfer_to_&lt;agent&gt;. The model picks it like any tool.</a:t>
            </a:r>
          </a:p>
        </p:txBody>
      </p:sp>
      <p:sp>
        <p:nvSpPr>
          <p:cNvPr id="19" name="Oval 18"/>
          <p:cNvSpPr/>
          <p:nvPr/>
        </p:nvSpPr>
        <p:spPr>
          <a:xfrm>
            <a:off x="6601968" y="276148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94576" y="2651760"/>
            <a:ext cx="46387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specialist takes over and answers the user directly.</a:t>
            </a:r>
          </a:p>
        </p:txBody>
      </p:sp>
      <p:sp>
        <p:nvSpPr>
          <p:cNvPr id="21" name="Oval 20"/>
          <p:cNvSpPr/>
          <p:nvPr/>
        </p:nvSpPr>
        <p:spPr>
          <a:xfrm>
            <a:off x="6601968" y="340156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4576" y="3291840"/>
            <a:ext cx="46387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Next turn: start from result.last_agent, not the front desk.</a:t>
            </a:r>
          </a:p>
        </p:txBody>
      </p:sp>
      <p:sp>
        <p:nvSpPr>
          <p:cNvPr id="23" name="Oval 22"/>
          <p:cNvSpPr/>
          <p:nvPr/>
        </p:nvSpPr>
        <p:spPr>
          <a:xfrm>
            <a:off x="6601968" y="4041648"/>
            <a:ext cx="63500" cy="635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576" y="3931920"/>
            <a:ext cx="46387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Give desks a hand-back to the front desk for off-topic follow-ups.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68172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484632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Live: turn 2 went straight to Flights. Turn 3, a hotel question, was handed back.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3 · HANDOFF()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Customising the moment of transfer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9260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class Escalation(BaseModel):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reason: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urgency: str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handoff(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visa_desk,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on_handoff=log_visa_escalation,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input_type=Escalation,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input_filter=handoff_filters.remove_all_tools,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07327" y="1847088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6199" y="1821688"/>
            <a:ext cx="472424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ON_HANDOFF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your code runs at the transfer: log it, prefetch data, open a ticket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67004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07327" y="2852928"/>
            <a:ext cx="38100" cy="165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6199" y="2827528"/>
            <a:ext cx="472424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Aptos"/>
              </a:rPr>
              <a:t>INPUT_TYPE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model states WHY, as structured data — live: urgency=high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447" y="3675888"/>
            <a:ext cx="5208879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07327" y="3858768"/>
            <a:ext cx="38100" cy="165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6199" y="3833368"/>
            <a:ext cx="472424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Aptos"/>
              </a:rPr>
              <a:t>INPUT_FILTER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choose what history the specialist inherits — context engineering at the seam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PART 4 · THE KEY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Handoff or agent-as-tool?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Aptos"/>
              </a:rPr>
              <a:t>PHOTOGRAPH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527048"/>
            <a:ext cx="33258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6549" y="1527048"/>
            <a:ext cx="33258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HANDOFFS=[...]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3562" y="1527048"/>
            <a:ext cx="36197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TOOLS=[AGENT.AS_TOOL()]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37944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Who answers the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6549" y="1965960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3562" y="1965960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original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441448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549" y="2441448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transfers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3562" y="2441448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stays with the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788920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2916936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Several specialists in one turn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549" y="2916936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awkward: a chain of hops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3562" y="2916936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yes, even in 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392424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Week 10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6549" y="3392424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router / decentralised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3562" y="3392424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orchestrator /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39896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3867912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Live: all three in one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549" y="3867912"/>
            <a:ext cx="312467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LOOPED — 9 search_flights 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3562" y="3867912"/>
            <a:ext cx="34185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3 specialists in parallel, one answer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489704"/>
            <a:ext cx="10874959" cy="7772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4654296"/>
            <a:ext cx="1032631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34D399"/>
                </a:solidFill>
                <a:latin typeface="Aptos"/>
              </a:rPr>
              <a:t>Handoff when the conversation should move. Agent-as-tool when you need an answer and want to stay in charge.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59E0B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Instructions are requests. Guardrails enforce.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Checks that run alongside the agent — and can stop the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GUARDRAILS · 30 MINUTES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guardrails, three places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18488"/>
            <a:ext cx="21126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3357" y="1618488"/>
            <a:ext cx="21126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7178" y="1618488"/>
            <a:ext cx="303818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ON TRIP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6527" y="1618488"/>
            <a:ext cx="28067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OUR CONCIERGE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938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05740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@input_guardrail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3357" y="205740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user's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7178" y="2057400"/>
            <a:ext cx="283701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raises InputGuardrailTripwireTriggered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6527" y="2057400"/>
            <a:ext cx="26056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passport numbers, off-topic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69748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@output_guardrail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3357" y="269748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the agent's final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7178" y="2697480"/>
            <a:ext cx="283701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raises OutputGuardrailTripwireTriggered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6527" y="2697480"/>
            <a:ext cx="26056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"your visa is guaranteed"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09544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33756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@tool_input_guardrail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3357" y="3337560"/>
            <a:ext cx="19114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one tool call's arguments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7178" y="3337560"/>
            <a:ext cx="283701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rejects the call, tells the model 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6527" y="3337560"/>
            <a:ext cx="26056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9AA3C4"/>
                </a:solidFill>
                <a:latin typeface="Aptos"/>
              </a:rPr>
              <a:t>a travel date in the past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23944"/>
            <a:ext cx="5254599" cy="14173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7824" y="4343400"/>
            <a:ext cx="38100" cy="165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6696" y="4318000"/>
            <a:ext cx="4696815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Aptos"/>
              </a:rPr>
              <a:t>THE CHEAPEST GUARDRAIL ISN'T AN LLM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Passport numbers have a shape. A regex catches them in microseconds, free and deterministic. Try the boring check first.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4123944"/>
            <a:ext cx="5254599" cy="14173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8183" y="4343400"/>
            <a:ext cx="38100" cy="165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7055" y="4318000"/>
            <a:ext cx="4696815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Aptos"/>
              </a:rPr>
              <a:t>RUN_IN_PARALLEL: SPEED VS SAFETY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True (default): starts with the agent — fast, but tokens and tool calls may already be spent. False: finish checking first. Use False when tools have side effects.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ptos"/>
              </a:rPr>
              <a:t>PART 5 · WHAT HAPPENED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A guardrail is a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945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PASSED   'Help me find a hotel in Goa...'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BLOCKED  'My passport is Z1234567...'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BLOCKED  'Write my college essay...'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BLOCKED  'hi!'          &lt;- false positive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19456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8767" y="1865376"/>
            <a:ext cx="466023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 i="0">
                <a:solidFill>
                  <a:srgbClr val="F2F4FF"/>
                </a:solidFill>
                <a:latin typeface="Aptos"/>
              </a:rPr>
              <a:t>The checker's instructions said greetings are fine.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The cheapest model ignored that line and blocked "hi!". A guardrail that blocks "hi" is a broken product, not a safe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13308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297680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Aptos"/>
              </a:rPr>
              <a:t>Guardrails need an eval set too — Week 10's evaluate(). Fix with a stronger model, few-shot examples, or a rule that passes greetings.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7 · READ BEFORE YOU 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Three traps we fell into building this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0287" y="603504"/>
            <a:ext cx="1389879" cy="23774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FB7185"/>
                </a:solidFill>
                <a:latin typeface="Aptos"/>
              </a:rPr>
              <a:t>PHOTOGRAPH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454298" cy="3840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84708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i="0">
                <a:solidFill>
                  <a:srgbClr val="FB7185"/>
                </a:solidFill>
                <a:latin typeface="Aptos"/>
              </a:rPr>
              <a:t>1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F2F4FF"/>
                </a:solidFill>
                <a:latin typeface="Aptos"/>
              </a:rPr>
              <a:t>Guardrails only run on the first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35808"/>
            <a:ext cx="297881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We continued turns from result.last_agent. From turn 2, every message started at a desk — the front desk's guardrails never ran. A passport number went straight through.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63600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→ Put the guardrails on every agent that can start a 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664208"/>
            <a:ext cx="3454298" cy="3840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6442" y="184708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i="0">
                <a:solidFill>
                  <a:srgbClr val="FB7185"/>
                </a:solidFill>
                <a:latin typeface="Aptos"/>
              </a:rPr>
              <a:t>2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F2F4FF"/>
                </a:solidFill>
                <a:latin typeface="Aptos"/>
              </a:rPr>
              <a:t>Guardrails see the whole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035808"/>
            <a:ext cx="297881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With a session, one old passport number tripped every later turn. Checking only the new message then blocked "book the evening one".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442" y="463600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→ Scope each check: regex → new message; topic → last few turns.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9028" y="1664208"/>
            <a:ext cx="3454298" cy="384048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16772" y="184708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i="0">
                <a:solidFill>
                  <a:srgbClr val="FB7185"/>
                </a:solidFill>
                <a:latin typeface="Aptos"/>
              </a:rPr>
              <a:t>3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F2F4FF"/>
                </a:solidFill>
                <a:latin typeface="Aptos"/>
              </a:rPr>
              <a:t>Blocked ≠ not stored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772" y="3035808"/>
            <a:ext cx="297881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The guardrail stopped the agent, but the passport number was already saved in the session.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772" y="463600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Aptos"/>
              </a:rPr>
              <a:t>→ Remove it: await session.pop_item() in the handler.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FB7185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27248"/>
            <a:ext cx="10058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33832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2F4FF"/>
                </a:solidFill>
                <a:latin typeface="Aptos"/>
              </a:rPr>
              <a:t>Humans, and a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The irreversible step waits for a person. Then the concierge learns to talk.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66E94"/>
                </a:solidFill>
                <a:latin typeface="Aptos"/>
              </a:rPr>
              <a:t>APPROVAL, CAPSTONE, VOICE · 50 MINUTES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6 · NEEDS_APPROVAL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Pause, approve, resume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2444419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model calls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book_flight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2787" y="2212848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68547" y="1755648"/>
            <a:ext cx="2444419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run PAUSES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nothing booked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2966" y="2212848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78726" y="1755648"/>
            <a:ext cx="2444419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human sees the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exact arguments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3145" y="2212848"/>
            <a:ext cx="36576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88905" y="1755648"/>
            <a:ext cx="2444419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approve / reject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2F4FF"/>
                </a:solidFill>
                <a:latin typeface="Aptos"/>
              </a:rPr>
              <a:t>→ resume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90088"/>
            <a:ext cx="5208879" cy="219456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172968"/>
            <a:ext cx="475167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@function_tool(needs_approval=True)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def book_flight(flight_id, passenger_name): ...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5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result = await Runner.run(desk, "Book QP-1375")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state = result.to_state()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for item in result.interruptions: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state.approve(item)      # or state.reject(item)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await Runner.run(desk, state)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32186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7055" y="3108960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final_output is None while paused; the booking list stays empty.</a:t>
            </a:r>
          </a:p>
        </p:txBody>
      </p:sp>
      <p:sp>
        <p:nvSpPr>
          <p:cNvPr id="19" name="Oval 18"/>
          <p:cNvSpPr/>
          <p:nvPr/>
        </p:nvSpPr>
        <p:spPr>
          <a:xfrm>
            <a:off x="6324447" y="374904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7055" y="3639312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to_state().to_string() → store it; approve hours later, in another process.</a:t>
            </a:r>
          </a:p>
        </p:txBody>
      </p:sp>
      <p:sp>
        <p:nvSpPr>
          <p:cNvPr id="21" name="Oval 20"/>
          <p:cNvSpPr/>
          <p:nvPr/>
        </p:nvSpPr>
        <p:spPr>
          <a:xfrm>
            <a:off x="6324447" y="427939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7055" y="4169664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Reject, and the model is told "not approved" — it explains, doesn't retry.</a:t>
            </a:r>
          </a:p>
        </p:txBody>
      </p:sp>
      <p:sp>
        <p:nvSpPr>
          <p:cNvPr id="23" name="Oval 22"/>
          <p:cNvSpPr/>
          <p:nvPr/>
        </p:nvSpPr>
        <p:spPr>
          <a:xfrm>
            <a:off x="6324447" y="480974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7055" y="4700016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Tell the model the gate exists, or it asks "shall I book?" in chat instead.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ptos"/>
              </a:rPr>
              <a:t>PART 6 · CONDITIONAL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Not every call needs a human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async def pricey(ctx, params, call_id) -&gt; bool: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return params["price_per_night_inr"] &gt; 8000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100" b="0" i="0">
              <a:solidFill>
                <a:srgbClr val="9AA3C4"/>
              </a:solidFill>
              <a:latin typeface="Consolas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@function_tool(needs_approval=pricey)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def book_hotel(hotel_id, nights,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               price_per_night_inr):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01168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2191" y="1847088"/>
            <a:ext cx="475167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booked instantly     &lt;- H-GOA-2 at 3,800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9AA3C4"/>
                </a:solidFill>
                <a:latin typeface="Consolas"/>
              </a:rPr>
              <a:t>PAUSED for approval  &lt;- H-DXB-1 at 11,200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50208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114800"/>
            <a:ext cx="1032631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Aptos"/>
              </a:rPr>
              <a:t>Week 10: "gate on irreversibility, not importance" — now one argument. Put humans where the risk is, not everywhere.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PART 7 ·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Concierge v2: both days, one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18488"/>
            <a:ext cx="10874959" cy="3246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01368"/>
            <a:ext cx="10417759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Hi! I'm Asha, planning a Goa trip from Bangalore on 2026-10-02.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[Front Desk]   Hi Asha! Flights, hotels or visa?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What flights are there? I prefer evenings.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[Flights Desk] Akasa Air at 18:30, INR 3,890.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Book the evening one for Asha Rao.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  APPROVAL NEEDED  book_flight  QP-1375  Asha Rao   -&gt; 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My passport number is Z1234567 if you need it.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[guardrail: no_passport_numbers] Please don't share passport numbers in chat.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Now a hotel in Goa under 6000 for 3 nights — book the cheapest.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[Hotels Desk]  Booked Fontainhas Heritage Stay. (under the approval threshold)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YOU   Can you also help me with my maths homework?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DESK  [guardrail: travel_only] I can only help with travel.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09320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525780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Handoffs · approval · two guardrails · memory · one trace. Real output, verified run.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NOTEBOOK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Voice is just input and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your voice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3903" y="221284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8223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speech-to-text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gpt-4o-transcribe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3758" y="221284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18078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the SAME agent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tools, handoffs, guardrails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73613" y="221284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47933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text-to-speech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gpt-4o-mini-tts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03468" y="2212848"/>
            <a:ext cx="274320" cy="0"/>
          </a:xfrm>
          <a:prstGeom prst="line">
            <a:avLst/>
          </a:prstGeom>
          <a:ln w="19050">
            <a:solidFill>
              <a:srgbClr val="3A44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77788" y="1755648"/>
            <a:ext cx="1955535" cy="91440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5875">
            <a:solidFill>
              <a:srgbClr val="3A4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its voice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127248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3017520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whisper-1 still works; gpt-4o-transcribe is the current model.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3657600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3547872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Voice rules in the prompt: no lists, no symbols, two short sentences.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187952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4078224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VoicePipeline streams the reply back as audio chunks.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4718304"/>
            <a:ext cx="63500" cy="635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608576"/>
            <a:ext cx="491627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Handoffs work unchanged: the caller reached the Hotels Desk by voice.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7" y="2990088"/>
            <a:ext cx="5208879" cy="182880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62191" y="3172968"/>
            <a:ext cx="47516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pipeline = VoicePipeline(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workflow=SingleAgentVoiceWorkflow(agent))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result = await pipeline.run(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    AudioInput(buffer=pcm, frame_rate=24000))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9AA3C4"/>
                </a:solidFill>
                <a:latin typeface="Consolas"/>
              </a:rPr>
              <a:t>async for e in result.stream(): 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NOTEBOOK 03 ·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Where the time goes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0A0D1E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475167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speech-to-text          1.5s  ████████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agent (model + tools)   2.8s  ████████████████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text-to-speech          2.4s  ██████████████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by hand, total          6.7s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9AA3C4"/>
                </a:solidFill>
                <a:latin typeface="Consolas"/>
              </a:rPr>
              <a:t>pipeline, first audio   6.3s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664208"/>
            <a:ext cx="5208879" cy="2103120"/>
          </a:xfrm>
          <a:prstGeom prst="roundRect">
            <a:avLst>
              <a:gd name="adj" fmla="val 8000"/>
            </a:avLst>
          </a:prstGeom>
          <a:solidFill>
            <a:srgbClr val="22274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98767" y="1847088"/>
            <a:ext cx="46602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500" b="1" i="0">
                <a:solidFill>
                  <a:srgbClr val="22D3EE"/>
                </a:solidFill>
                <a:latin typeface="Aptos"/>
              </a:rPr>
              <a:t>Streaming barely helped.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It only speeds up speaking. Most of the wait comes before the first word exists: transcription, a model call, a tool call, another model call. Humans notice a pause after about half a second.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995928"/>
            <a:ext cx="197382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4527" y="3995928"/>
            <a:ext cx="4148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CHAINED · VOICEPIPELINE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4510" y="3995928"/>
            <a:ext cx="41488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Aptos"/>
              </a:rPr>
              <a:t>SPEECH-TO-SPEECH · REALTIMEAGENT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06824"/>
            <a:ext cx="10874959" cy="3657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434840"/>
            <a:ext cx="1772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4527" y="443484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4510" y="443484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sub-second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800600"/>
            <a:ext cx="1772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Text in between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4527" y="480060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yes — guardrails, logs, evals still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4510" y="480060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harder to inspect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38344"/>
            <a:ext cx="10874959" cy="36576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5166360"/>
            <a:ext cx="17726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F4FF"/>
                </a:solidFill>
                <a:latin typeface="Aptos"/>
              </a:rPr>
              <a:t>Good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4527" y="516636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voice notes, IVR, assistants that can 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4510" y="5166360"/>
            <a:ext cx="394764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3C4"/>
                </a:solidFill>
                <a:latin typeface="Aptos"/>
              </a:rPr>
              <a:t>live phone calls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181344"/>
            <a:ext cx="10874959" cy="9525"/>
          </a:xfrm>
          <a:prstGeom prst="rect">
            <a:avLst/>
          </a:prstGeom>
          <a:solidFill>
            <a:srgbClr val="2A3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327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666E94"/>
                </a:solidFill>
                <a:latin typeface="Aptos"/>
              </a:rPr>
              <a:t>OpenAI Agents SDK  ·  Week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32764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666E94"/>
                </a:solidFill>
                <a:latin typeface="Aptos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A78BFA"/>
                </a:solidFill>
                <a:latin typeface="Aptos"/>
              </a:rPr>
              <a:t>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21792"/>
            <a:ext cx="50800" cy="4023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66928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2F4FF"/>
                </a:solidFill>
                <a:latin typeface="Aptos"/>
              </a:rPr>
              <a:t>Week 11 in one 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5208879" cy="34747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65376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A78BFA"/>
                </a:solidFill>
                <a:latin typeface="Aptos"/>
              </a:rPr>
              <a:t>The SDK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532888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423160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Agent + Runner: your Week 10 loop, packaged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044952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61872" y="2935224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@function_tool: docstring and type hints → schema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557016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3447288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Hosted tools, agents-as-tools, MCP in one line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4069080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61872" y="3959352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Sessions for memory; context for data the model never sees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" y="4581144"/>
            <a:ext cx="63500" cy="635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61872" y="4471416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Tracing on by default; processors for your own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1664208"/>
            <a:ext cx="5208879" cy="3474720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98767" y="1865376"/>
            <a:ext cx="466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800" b="1" i="0">
                <a:solidFill>
                  <a:srgbClr val="FB7185"/>
                </a:solidFill>
                <a:latin typeface="Aptos"/>
              </a:rPr>
              <a:t>Making it safe</a:t>
            </a:r>
          </a:p>
        </p:txBody>
      </p:sp>
      <p:sp>
        <p:nvSpPr>
          <p:cNvPr id="22" name="Oval 21"/>
          <p:cNvSpPr/>
          <p:nvPr/>
        </p:nvSpPr>
        <p:spPr>
          <a:xfrm>
            <a:off x="6635343" y="2532888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27951" y="2423160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Handoff to move a conversation; as_tool to stay in charge</a:t>
            </a:r>
          </a:p>
        </p:txBody>
      </p:sp>
      <p:sp>
        <p:nvSpPr>
          <p:cNvPr id="24" name="Oval 23"/>
          <p:cNvSpPr/>
          <p:nvPr/>
        </p:nvSpPr>
        <p:spPr>
          <a:xfrm>
            <a:off x="6635343" y="3044952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27951" y="2935224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Guardrails enforce; instructions only request</a:t>
            </a:r>
          </a:p>
        </p:txBody>
      </p:sp>
      <p:sp>
        <p:nvSpPr>
          <p:cNvPr id="26" name="Oval 25"/>
          <p:cNvSpPr/>
          <p:nvPr/>
        </p:nvSpPr>
        <p:spPr>
          <a:xfrm>
            <a:off x="6635343" y="3557016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27951" y="3447288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Guardrails are classifiers — they need evals</a:t>
            </a:r>
          </a:p>
        </p:txBody>
      </p:sp>
      <p:sp>
        <p:nvSpPr>
          <p:cNvPr id="28" name="Oval 27"/>
          <p:cNvSpPr/>
          <p:nvPr/>
        </p:nvSpPr>
        <p:spPr>
          <a:xfrm>
            <a:off x="6635343" y="4069080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27951" y="3959352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Guard every agent that can start a turn</a:t>
            </a:r>
          </a:p>
        </p:txBody>
      </p:sp>
      <p:sp>
        <p:nvSpPr>
          <p:cNvPr id="30" name="Oval 29"/>
          <p:cNvSpPr/>
          <p:nvPr/>
        </p:nvSpPr>
        <p:spPr>
          <a:xfrm>
            <a:off x="6635343" y="4581144"/>
            <a:ext cx="63500" cy="6350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27951" y="4471416"/>
            <a:ext cx="4367631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AA3C4"/>
                </a:solidFill>
                <a:latin typeface="Aptos"/>
              </a:rPr>
              <a:t>needs_approval where there's no undo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367528"/>
            <a:ext cx="10874959" cy="548640"/>
          </a:xfrm>
          <a:prstGeom prst="roundRect">
            <a:avLst>
              <a:gd name="adj" fmla="val 8000"/>
            </a:avLst>
          </a:prstGeom>
          <a:solidFill>
            <a:srgbClr val="080A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5532120"/>
            <a:ext cx="10326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 i="0">
                <a:solidFill>
                  <a:srgbClr val="A78BFA"/>
                </a:solidFill>
                <a:latin typeface="Aptos"/>
              </a:rPr>
              <a:t>Same loop as Week 10. Next week, LangChain — and the loop moves into a graph.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28600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200" b="1" i="0">
                <a:solidFill>
                  <a:srgbClr val="F2F4FF"/>
                </a:solidFill>
                <a:latin typeface="Aptos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474720"/>
            <a:ext cx="1463040" cy="381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785615"/>
            <a:ext cx="89611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Both notebooks and voice_live.py are in week11/. Run the capstone at home and break it.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700" b="0" i="0">
                <a:solidFill>
                  <a:srgbClr val="9AA3C4"/>
                </a:solidFill>
                <a:latin typeface="Aptos"/>
              </a:rPr>
              <a:t>Before LangChain: add a refunds desk whose cancel tool needs approval above a fee.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“Handoffs or one big agent for my use case?”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4794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4250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“How do I test guardrails?”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1220" y="5212080"/>
            <a:ext cx="3442106" cy="749808"/>
          </a:xfrm>
          <a:prstGeom prst="roundRect">
            <a:avLst>
              <a:gd name="adj" fmla="val 8000"/>
            </a:avLst>
          </a:prstGeom>
          <a:solidFill>
            <a:srgbClr val="1A1E3C"/>
          </a:solidFill>
          <a:ln w="12700">
            <a:solidFill>
              <a:srgbClr val="2A3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0676" y="5394960"/>
            <a:ext cx="30031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1">
                <a:solidFill>
                  <a:srgbClr val="666E94"/>
                </a:solidFill>
                <a:latin typeface="Aptos"/>
              </a:rPr>
              <a:t>“Can this run on a phone line?”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6450</Words>
  <Application>Microsoft Macintosh PowerPoint</Application>
  <PresentationFormat>Widescreen</PresentationFormat>
  <Paragraphs>867</Paragraphs>
  <Slides>42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OpenAI Agents SDK — Week 11</dc:title>
  <dc:subject/>
  <dc:creator/>
  <cp:keywords/>
  <dc:description>generated using python-pptx</dc:description>
  <cp:lastModifiedBy>Tools Outskill</cp:lastModifiedBy>
  <cp:revision>2</cp:revision>
  <dcterms:created xsi:type="dcterms:W3CDTF">2013-01-27T09:14:16Z</dcterms:created>
  <dcterms:modified xsi:type="dcterms:W3CDTF">2026-09-19T09:46:55Z</dcterms:modified>
  <cp:category/>
</cp:coreProperties>
</file>